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01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Appear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与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Fade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（含别名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fade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3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单击触发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的进入动画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——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Appear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（无过渡直接出现）、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Fade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淡入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×2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fade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为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fade-in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别名，二者等价）</a:t>
            </a:r>
            <a:endParaRPr lang="en-US" sz="700" dirty="0"/>
          </a:p>
        </p:txBody>
      </p:sp>
      <p:grpSp>
        <p:nvGrpSpPr>
          <p:cNvPr id="33" name="dh-grp-decl-appear"/>
          <p:cNvGrpSpPr/>
          <p:nvPr/>
        </p:nvGrpSpPr>
        <p:grpSpPr>
          <a:xfrm>
            <a:off x="400050" y="1685925"/>
            <a:ext cx="2514600" cy="1800225"/>
            <a:chOff x="0" y="0"/>
            <a:chExt cx="251460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51460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64748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2214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Appear</a:t>
              </a:r>
              <a:endParaRPr lang="en-US" sz="13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500063"/>
              <a:ext cx="221456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50019" y="500063"/>
              <a:ext cx="221456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data-animation="appear"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50019" y="845753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Appear </a:t>
              </a:r>
              <a:r>
                <a:rPr lang="zh-CN" sz="700" b="1" dirty="0">
                  <a:solidFill>
                    <a:srgbClr val="2563EB"/>
                  </a:solidFill>
                  <a:latin typeface="PingFang SC" pitchFamily="34" charset="0"/>
                  <a:ea typeface="PingFang SC" pitchFamily="34" charset="-122"/>
                </a:rPr>
                <a:t>出现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（无过渡，直接显示）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065758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34" name="dh-grp-decl-fade-in"/>
          <p:cNvGrpSpPr/>
          <p:nvPr/>
        </p:nvGrpSpPr>
        <p:grpSpPr>
          <a:xfrm>
            <a:off x="3314700" y="1685925"/>
            <a:ext cx="2514600" cy="1800225"/>
            <a:chOff x="0" y="0"/>
            <a:chExt cx="251460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251460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50019" y="178594"/>
              <a:ext cx="2214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Fade In</a:t>
              </a:r>
              <a:endParaRPr lang="en-US" sz="13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50019" y="500063"/>
              <a:ext cx="2214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50019" y="500063"/>
              <a:ext cx="2214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data-animation="fade-in"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data-animation-duration="600"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991419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Fade </a:t>
              </a:r>
              <a:r>
                <a:rPr lang="zh-CN" sz="700" b="1" dirty="0">
                  <a:solidFill>
                    <a:srgbClr val="2563EB"/>
                  </a:solidFill>
                  <a:latin typeface="PingFang SC" pitchFamily="34" charset="0"/>
                  <a:ea typeface="PingFang SC" pitchFamily="34" charset="-122"/>
                </a:rPr>
                <a:t>淡入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，时长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600ms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50019" y="1211424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35" name="dh-grp-decl-fade-alias"/>
          <p:cNvGrpSpPr/>
          <p:nvPr/>
        </p:nvGrpSpPr>
        <p:grpSpPr>
          <a:xfrm>
            <a:off x="6229350" y="1685925"/>
            <a:ext cx="2514600" cy="1800225"/>
            <a:chOff x="0" y="0"/>
            <a:chExt cx="2514600" cy="1800225"/>
          </a:xfrm>
        </p:grpSpPr>
        <p:sp>
          <p:nvSpPr>
            <p:cNvPr id="23" name=""/>
            <p:cNvSpPr/>
            <p:nvPr/>
          </p:nvSpPr>
          <p:spPr>
            <a:xfrm>
              <a:off x="0" y="0"/>
              <a:ext cx="251460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4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25" name=""/>
            <p:cNvSpPr/>
            <p:nvPr/>
          </p:nvSpPr>
          <p:spPr>
            <a:xfrm>
              <a:off x="150019" y="178594"/>
              <a:ext cx="2214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Fade</a:t>
              </a: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（别名）</a:t>
              </a:r>
              <a:endParaRPr lang="en-US" sz="1300" dirty="0"/>
            </a:p>
          </p:txBody>
        </p:sp>
        <p:sp>
          <p:nvSpPr>
            <p:cNvPr id="26" name=""/>
            <p:cNvSpPr/>
            <p:nvPr/>
          </p:nvSpPr>
          <p:spPr>
            <a:xfrm>
              <a:off x="150019" y="500063"/>
              <a:ext cx="2214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7" name=""/>
            <p:cNvSpPr/>
            <p:nvPr/>
          </p:nvSpPr>
          <p:spPr>
            <a:xfrm>
              <a:off x="150019" y="500063"/>
              <a:ext cx="2214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data-animation="fade"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data-animation-duration="600"</a:t>
              </a:r>
              <a:endParaRPr lang="en-US" sz="600" dirty="0"/>
            </a:p>
          </p:txBody>
        </p:sp>
        <p:sp>
          <p:nvSpPr>
            <p:cNvPr id="28" name=""/>
            <p:cNvSpPr/>
            <p:nvPr/>
          </p:nvSpPr>
          <p:spPr>
            <a:xfrm>
              <a:off x="150019" y="991419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Fade </a:t>
              </a:r>
              <a:r>
                <a:rPr lang="zh-CN" sz="700" b="1" dirty="0">
                  <a:solidFill>
                    <a:srgbClr val="2563EB"/>
                  </a:solidFill>
                  <a:latin typeface="PingFang SC" pitchFamily="34" charset="0"/>
                  <a:ea typeface="PingFang SC" pitchFamily="34" charset="-122"/>
                </a:rPr>
                <a:t>淡入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，与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fade-in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完全等价</a:t>
              </a:r>
              <a:endParaRPr lang="en-US" sz="7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1211424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sp>
        <p:nvSpPr>
          <p:cNvPr id="30" name="Shape 27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动画窗格中应依次出现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3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个「单击开始」的动画（顺序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= DOM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顺序）；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Appear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瞬间出现，两个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均以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600ms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淡入，观感一致。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fallOver"/>
      </p:transition>
    </mc:Choice>
    <mc:Fallback>
      <p:transition spd="med"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0406" y="292894"/>
            <a:ext cx="3135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02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Fly In ·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四个飞入方向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单击触发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的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Fly In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，方向分别为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自左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自右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自上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自下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，时长均为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700ms</a:t>
            </a:r>
            <a:endParaRPr lang="en-US" sz="700" dirty="0"/>
          </a:p>
        </p:txBody>
      </p:sp>
      <p:grpSp>
        <p:nvGrpSpPr>
          <p:cNvPr id="44" name="dh-grp-decl-fly-left"/>
          <p:cNvGrpSpPr/>
          <p:nvPr/>
        </p:nvGrpSpPr>
        <p:grpSpPr>
          <a:xfrm>
            <a:off x="228600" y="1685925"/>
            <a:ext cx="2000250" cy="1800225"/>
            <a:chOff x="0" y="0"/>
            <a:chExt cx="20002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→</a:t>
              </a:r>
              <a:endParaRPr lang="en-US" sz="16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自左飞入</a:t>
              </a:r>
              <a:endParaRPr lang="en-US" sz="1100" dirty="0"/>
            </a:p>
          </p:txBody>
        </p:sp>
        <p:sp>
          <p:nvSpPr>
            <p:cNvPr id="13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14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data-animation="fly-in-left"</a:t>
              </a:r>
              <a:endParaRPr lang="en-US" sz="6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Left</a:t>
              </a:r>
              <a:endParaRPr lang="en-US" sz="700" dirty="0"/>
            </a:p>
          </p:txBody>
        </p:sp>
        <p:sp>
          <p:nvSpPr>
            <p:cNvPr id="16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5" name="dh-grp-decl-fly-right"/>
          <p:cNvGrpSpPr/>
          <p:nvPr/>
        </p:nvGrpSpPr>
        <p:grpSpPr>
          <a:xfrm>
            <a:off x="2457450" y="1685925"/>
            <a:ext cx="2000250" cy="1800225"/>
            <a:chOff x="0" y="0"/>
            <a:chExt cx="2000250" cy="1800225"/>
          </a:xfrm>
        </p:grpSpPr>
        <p:sp>
          <p:nvSpPr>
            <p:cNvPr id="17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8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9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←</a:t>
              </a:r>
              <a:endParaRPr lang="en-US" sz="1600" dirty="0"/>
            </a:p>
          </p:txBody>
        </p:sp>
        <p:sp>
          <p:nvSpPr>
            <p:cNvPr id="20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自右飞入</a:t>
              </a:r>
              <a:endParaRPr lang="en-US" sz="11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22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data-animation="fly-in-right"</a:t>
              </a:r>
              <a:endParaRPr lang="en-US" sz="600" dirty="0"/>
            </a:p>
          </p:txBody>
        </p:sp>
        <p:sp>
          <p:nvSpPr>
            <p:cNvPr id="23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Right</a:t>
              </a:r>
              <a:endParaRPr lang="en-US" sz="700" dirty="0"/>
            </a:p>
          </p:txBody>
        </p:sp>
        <p:sp>
          <p:nvSpPr>
            <p:cNvPr id="24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6" name="dh-grp-decl-fly-top"/>
          <p:cNvGrpSpPr/>
          <p:nvPr/>
        </p:nvGrpSpPr>
        <p:grpSpPr>
          <a:xfrm>
            <a:off x="4686300" y="1685925"/>
            <a:ext cx="2000250" cy="1800225"/>
            <a:chOff x="0" y="0"/>
            <a:chExt cx="2000250" cy="1800225"/>
          </a:xfrm>
        </p:grpSpPr>
        <p:sp>
          <p:nvSpPr>
            <p:cNvPr id="25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6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27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↓</a:t>
              </a:r>
              <a:endParaRPr lang="en-US" sz="1600" dirty="0"/>
            </a:p>
          </p:txBody>
        </p:sp>
        <p:sp>
          <p:nvSpPr>
            <p:cNvPr id="28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自上飞入</a:t>
              </a:r>
              <a:endParaRPr lang="en-US" sz="11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30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data-animation="fly-in-top"</a:t>
              </a:r>
              <a:endParaRPr lang="en-US" sz="600" dirty="0"/>
            </a:p>
          </p:txBody>
        </p:sp>
        <p:sp>
          <p:nvSpPr>
            <p:cNvPr id="31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Top</a:t>
              </a:r>
              <a:endParaRPr lang="en-US" sz="700" dirty="0"/>
            </a:p>
          </p:txBody>
        </p:sp>
        <p:sp>
          <p:nvSpPr>
            <p:cNvPr id="32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7" name="dh-grp-decl-fly-bottom"/>
          <p:cNvGrpSpPr/>
          <p:nvPr/>
        </p:nvGrpSpPr>
        <p:grpSpPr>
          <a:xfrm>
            <a:off x="6915150" y="1685925"/>
            <a:ext cx="2000250" cy="1800225"/>
            <a:chOff x="0" y="0"/>
            <a:chExt cx="2000250" cy="1800225"/>
          </a:xfrm>
        </p:grpSpPr>
        <p:sp>
          <p:nvSpPr>
            <p:cNvPr id="33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34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5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↑</a:t>
              </a:r>
              <a:endParaRPr lang="en-US" sz="1600" dirty="0"/>
            </a:p>
          </p:txBody>
        </p:sp>
        <p:sp>
          <p:nvSpPr>
            <p:cNvPr id="36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自下飞入</a:t>
              </a:r>
              <a:endParaRPr lang="en-US" sz="1100" dirty="0"/>
            </a:p>
          </p:txBody>
        </p:sp>
        <p:sp>
          <p:nvSpPr>
            <p:cNvPr id="37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38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data-animation="fly-in-bottom"</a:t>
              </a:r>
              <a:endParaRPr lang="en-US" sz="600" dirty="0"/>
            </a:p>
          </p:txBody>
        </p:sp>
        <p:sp>
          <p:nvSpPr>
            <p:cNvPr id="39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Bottom</a:t>
              </a:r>
              <a:endParaRPr lang="en-US" sz="700" dirty="0"/>
            </a:p>
          </p:txBody>
        </p:sp>
        <p:sp>
          <p:nvSpPr>
            <p:cNvPr id="40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次单击各播放一次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Fly In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；在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PowerPoint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动画窗格中检查每个效果的方向选项（自左侧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/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自右侧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/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自顶部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/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自底部）与卡片标注一致，时长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0.7s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。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pageCurlDouble"/>
      </p:transition>
    </mc:Choice>
    <mc:Fallback>
      <p:transition spd="med">
        <p:pull dir="l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0406" y="292894"/>
            <a:ext cx="3135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03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Zoom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（含别名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zoom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单击触发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的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Zoom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进入动画（对象中心放大），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zoom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为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zoom-in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别名，二者等价</a:t>
            </a:r>
            <a:endParaRPr lang="en-US" sz="700" dirty="0"/>
          </a:p>
        </p:txBody>
      </p:sp>
      <p:grpSp>
        <p:nvGrpSpPr>
          <p:cNvPr id="26" name="dh-grp-decl-zoom-in"/>
          <p:cNvGrpSpPr/>
          <p:nvPr/>
        </p:nvGrpSpPr>
        <p:grpSpPr>
          <a:xfrm>
            <a:off x="685800" y="1685925"/>
            <a:ext cx="3714750" cy="1800225"/>
            <a:chOff x="0" y="0"/>
            <a:chExt cx="37147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Zoom In</a:t>
              </a:r>
              <a:endParaRPr lang="en-US" sz="13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data-animation="zoom-in"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data-animation-duration="600"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78594" y="1005706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Zoom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（对象中心，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Object Center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），时长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600ms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78594" y="1225711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27" name="dh-grp-decl-zoom-alias"/>
          <p:cNvGrpSpPr/>
          <p:nvPr/>
        </p:nvGrpSpPr>
        <p:grpSpPr>
          <a:xfrm>
            <a:off x="4743450" y="1685925"/>
            <a:ext cx="3714750" cy="1800225"/>
            <a:chOff x="0" y="0"/>
            <a:chExt cx="371475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Zoom</a:t>
              </a: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（别名）</a:t>
              </a:r>
              <a:endParaRPr lang="en-US" sz="13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data-animation="zoom"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data-animation-duration="600"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78594" y="1005706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Zoom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（对象中心），与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zoom-in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完全等价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78594" y="1225711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sp>
        <p:nvSpPr>
          <p:cNvPr id="23" name="Shape 20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单击后元素从中心由小放大出现；动画窗格中两个效果均为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（进入类，对象中心），时长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0.6s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ythrough dir="out" hasBounce="0"/>
      </p:transition>
    </mc:Choice>
    <mc:Fallback>
      <p:transition spd="med">
        <p:zoom dir="ou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0406" y="292894"/>
            <a:ext cx="3135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04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Spin ·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四档旋转角度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单击触发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的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Spin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（强调类，原地顺时针旋转），角度分别为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360° / 90° / 180° / 720°</a:t>
            </a:r>
            <a:endParaRPr lang="en-US" sz="700" dirty="0"/>
          </a:p>
        </p:txBody>
      </p:sp>
      <p:grpSp>
        <p:nvGrpSpPr>
          <p:cNvPr id="44" name="dh-grp-decl-spin"/>
          <p:cNvGrpSpPr/>
          <p:nvPr/>
        </p:nvGrpSpPr>
        <p:grpSpPr>
          <a:xfrm>
            <a:off x="228600" y="1685925"/>
            <a:ext cx="2000250" cy="1800225"/>
            <a:chOff x="0" y="0"/>
            <a:chExt cx="20002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rgbClr val="2563EB"/>
                  </a:solidFill>
                  <a:latin typeface="PingFang SC" pitchFamily="34" charset="0"/>
                </a:rPr>
                <a:t>360°</a:t>
              </a:r>
              <a:endParaRPr lang="en-US" sz="16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spin</a:t>
              </a: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1100" dirty="0"/>
            </a:p>
          </p:txBody>
        </p:sp>
        <p:sp>
          <p:nvSpPr>
            <p:cNvPr id="13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14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data-animation="spin"</a:t>
              </a:r>
              <a:endParaRPr lang="en-US" sz="6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Spin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，旋转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360°</a:t>
              </a:r>
              <a:endParaRPr lang="en-US" sz="700" dirty="0"/>
            </a:p>
          </p:txBody>
        </p:sp>
        <p:sp>
          <p:nvSpPr>
            <p:cNvPr id="16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5" name="dh-grp-decl-spin-quarter"/>
          <p:cNvGrpSpPr/>
          <p:nvPr/>
        </p:nvGrpSpPr>
        <p:grpSpPr>
          <a:xfrm>
            <a:off x="2457450" y="1685925"/>
            <a:ext cx="2000250" cy="1800225"/>
            <a:chOff x="0" y="0"/>
            <a:chExt cx="2000250" cy="1800225"/>
          </a:xfrm>
        </p:grpSpPr>
        <p:sp>
          <p:nvSpPr>
            <p:cNvPr id="17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8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9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rgbClr val="2563EB"/>
                  </a:solidFill>
                  <a:latin typeface="PingFang SC" pitchFamily="34" charset="0"/>
                </a:rPr>
                <a:t>90°</a:t>
              </a:r>
              <a:endParaRPr lang="en-US" sz="1600" dirty="0"/>
            </a:p>
          </p:txBody>
        </p:sp>
        <p:sp>
          <p:nvSpPr>
            <p:cNvPr id="20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spin-quarter</a:t>
              </a:r>
              <a:endParaRPr lang="en-US" sz="11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22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data-animation="spin-quarter"</a:t>
              </a:r>
              <a:endParaRPr lang="en-US" sz="600" dirty="0"/>
            </a:p>
          </p:txBody>
        </p:sp>
        <p:sp>
          <p:nvSpPr>
            <p:cNvPr id="23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Spin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，旋转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90°</a:t>
              </a:r>
              <a:endParaRPr lang="en-US" sz="700" dirty="0"/>
            </a:p>
          </p:txBody>
        </p:sp>
        <p:sp>
          <p:nvSpPr>
            <p:cNvPr id="24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6" name="dh-grp-decl-spin-half"/>
          <p:cNvGrpSpPr/>
          <p:nvPr/>
        </p:nvGrpSpPr>
        <p:grpSpPr>
          <a:xfrm>
            <a:off x="4686300" y="1685925"/>
            <a:ext cx="2000250" cy="1800225"/>
            <a:chOff x="0" y="0"/>
            <a:chExt cx="2000250" cy="1800225"/>
          </a:xfrm>
        </p:grpSpPr>
        <p:sp>
          <p:nvSpPr>
            <p:cNvPr id="25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6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27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rgbClr val="2563EB"/>
                  </a:solidFill>
                  <a:latin typeface="PingFang SC" pitchFamily="34" charset="0"/>
                </a:rPr>
                <a:t>180°</a:t>
              </a:r>
              <a:endParaRPr lang="en-US" sz="1600" dirty="0"/>
            </a:p>
          </p:txBody>
        </p:sp>
        <p:sp>
          <p:nvSpPr>
            <p:cNvPr id="28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spin-half</a:t>
              </a:r>
              <a:endParaRPr lang="en-US" sz="11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30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data-animation="spin-half"</a:t>
              </a:r>
              <a:endParaRPr lang="en-US" sz="600" dirty="0"/>
            </a:p>
          </p:txBody>
        </p:sp>
        <p:sp>
          <p:nvSpPr>
            <p:cNvPr id="31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Spin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，旋转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180°</a:t>
              </a:r>
              <a:endParaRPr lang="en-US" sz="700" dirty="0"/>
            </a:p>
          </p:txBody>
        </p:sp>
        <p:sp>
          <p:nvSpPr>
            <p:cNvPr id="32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7" name="dh-grp-decl-spin-double"/>
          <p:cNvGrpSpPr/>
          <p:nvPr/>
        </p:nvGrpSpPr>
        <p:grpSpPr>
          <a:xfrm>
            <a:off x="6915150" y="1685925"/>
            <a:ext cx="2000250" cy="1800225"/>
            <a:chOff x="0" y="0"/>
            <a:chExt cx="2000250" cy="1800225"/>
          </a:xfrm>
        </p:grpSpPr>
        <p:sp>
          <p:nvSpPr>
            <p:cNvPr id="33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34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5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b="1" dirty="0">
                  <a:solidFill>
                    <a:srgbClr val="2563EB"/>
                  </a:solidFill>
                  <a:latin typeface="PingFang SC" pitchFamily="34" charset="0"/>
                </a:rPr>
                <a:t>720°</a:t>
              </a:r>
              <a:endParaRPr lang="en-US" sz="1600" dirty="0"/>
            </a:p>
          </p:txBody>
        </p:sp>
        <p:sp>
          <p:nvSpPr>
            <p:cNvPr id="36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spin-double</a:t>
              </a:r>
              <a:endParaRPr lang="en-US" sz="1100" dirty="0"/>
            </a:p>
          </p:txBody>
        </p:sp>
        <p:sp>
          <p:nvSpPr>
            <p:cNvPr id="37" name=""/>
            <p:cNvSpPr/>
            <p:nvPr/>
          </p:nvSpPr>
          <p:spPr>
            <a:xfrm>
              <a:off x="150019" y="721519"/>
              <a:ext cx="170021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38" name=""/>
            <p:cNvSpPr/>
            <p:nvPr/>
          </p:nvSpPr>
          <p:spPr>
            <a:xfrm>
              <a:off x="150019" y="721519"/>
              <a:ext cx="170021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data-animation="spin-double"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duration 1200ms</a:t>
              </a:r>
              <a:endParaRPr lang="en-US" sz="600" dirty="0"/>
            </a:p>
          </p:txBody>
        </p:sp>
        <p:sp>
          <p:nvSpPr>
            <p:cNvPr id="39" name=""/>
            <p:cNvSpPr/>
            <p:nvPr/>
          </p:nvSpPr>
          <p:spPr>
            <a:xfrm>
              <a:off x="150019" y="1198587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Spin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，旋转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720°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（两圈）</a:t>
              </a:r>
              <a:endParaRPr lang="en-US" sz="700" dirty="0"/>
            </a:p>
          </p:txBody>
        </p:sp>
        <p:sp>
          <p:nvSpPr>
            <p:cNvPr id="40" name=""/>
            <p:cNvSpPr/>
            <p:nvPr/>
          </p:nvSpPr>
          <p:spPr>
            <a:xfrm>
              <a:off x="150019" y="1418592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Spin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是</a:t>
            </a: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强调动画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——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元素在幻灯片上始终可见，单击后原地顺时针旋转对应角度；动画窗格中图标为黄色星形（强调），可在效果选项中核对旋转量。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p:transition spd="med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" dur="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2" dur="8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7" dur="8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" dur="12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0406" y="292894"/>
            <a:ext cx="3135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05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Wipe ·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四个擦除方向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单击触发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的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Wipe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擦除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，方向分别为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自左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自右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自上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自下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，时长均为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700ms</a:t>
            </a:r>
            <a:endParaRPr lang="en-US" sz="700" dirty="0"/>
          </a:p>
        </p:txBody>
      </p:sp>
      <p:grpSp>
        <p:nvGrpSpPr>
          <p:cNvPr id="44" name="dh-grp-decl-wipe-left"/>
          <p:cNvGrpSpPr/>
          <p:nvPr/>
        </p:nvGrpSpPr>
        <p:grpSpPr>
          <a:xfrm>
            <a:off x="228600" y="1685925"/>
            <a:ext cx="2000250" cy="1800225"/>
            <a:chOff x="0" y="0"/>
            <a:chExt cx="20002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→</a:t>
              </a:r>
              <a:endParaRPr lang="en-US" sz="16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自左擦除</a:t>
              </a:r>
              <a:endParaRPr lang="en-US" sz="1100" dirty="0"/>
            </a:p>
          </p:txBody>
        </p:sp>
        <p:sp>
          <p:nvSpPr>
            <p:cNvPr id="13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14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data-animation="wipe-left"</a:t>
              </a:r>
              <a:endParaRPr lang="en-US" sz="6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Wipe · From Left</a:t>
              </a:r>
              <a:endParaRPr lang="en-US" sz="700" dirty="0"/>
            </a:p>
          </p:txBody>
        </p:sp>
        <p:sp>
          <p:nvSpPr>
            <p:cNvPr id="16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5" name="dh-grp-decl-wipe-right"/>
          <p:cNvGrpSpPr/>
          <p:nvPr/>
        </p:nvGrpSpPr>
        <p:grpSpPr>
          <a:xfrm>
            <a:off x="2457450" y="1685925"/>
            <a:ext cx="2000250" cy="1800225"/>
            <a:chOff x="0" y="0"/>
            <a:chExt cx="2000250" cy="1800225"/>
          </a:xfrm>
        </p:grpSpPr>
        <p:sp>
          <p:nvSpPr>
            <p:cNvPr id="17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8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9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←</a:t>
              </a:r>
              <a:endParaRPr lang="en-US" sz="1600" dirty="0"/>
            </a:p>
          </p:txBody>
        </p:sp>
        <p:sp>
          <p:nvSpPr>
            <p:cNvPr id="20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自右擦除</a:t>
              </a:r>
              <a:endParaRPr lang="en-US" sz="11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22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data-animation="wipe-right"</a:t>
              </a:r>
              <a:endParaRPr lang="en-US" sz="600" dirty="0"/>
            </a:p>
          </p:txBody>
        </p:sp>
        <p:sp>
          <p:nvSpPr>
            <p:cNvPr id="23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Wipe · From Right</a:t>
              </a:r>
              <a:endParaRPr lang="en-US" sz="700" dirty="0"/>
            </a:p>
          </p:txBody>
        </p:sp>
        <p:sp>
          <p:nvSpPr>
            <p:cNvPr id="24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6" name="dh-grp-decl-wipe-top"/>
          <p:cNvGrpSpPr/>
          <p:nvPr/>
        </p:nvGrpSpPr>
        <p:grpSpPr>
          <a:xfrm>
            <a:off x="4686300" y="1685925"/>
            <a:ext cx="2000250" cy="1800225"/>
            <a:chOff x="0" y="0"/>
            <a:chExt cx="2000250" cy="1800225"/>
          </a:xfrm>
        </p:grpSpPr>
        <p:sp>
          <p:nvSpPr>
            <p:cNvPr id="25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6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27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↓</a:t>
              </a:r>
              <a:endParaRPr lang="en-US" sz="1600" dirty="0"/>
            </a:p>
          </p:txBody>
        </p:sp>
        <p:sp>
          <p:nvSpPr>
            <p:cNvPr id="28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自上擦除</a:t>
              </a:r>
              <a:endParaRPr lang="en-US" sz="11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30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data-animation="wipe-top"</a:t>
              </a:r>
              <a:endParaRPr lang="en-US" sz="600" dirty="0"/>
            </a:p>
          </p:txBody>
        </p:sp>
        <p:sp>
          <p:nvSpPr>
            <p:cNvPr id="31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Wipe · From Top</a:t>
              </a:r>
              <a:endParaRPr lang="en-US" sz="700" dirty="0"/>
            </a:p>
          </p:txBody>
        </p:sp>
        <p:sp>
          <p:nvSpPr>
            <p:cNvPr id="32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7" name="dh-grp-decl-wipe-bottom"/>
          <p:cNvGrpSpPr/>
          <p:nvPr/>
        </p:nvGrpSpPr>
        <p:grpSpPr>
          <a:xfrm>
            <a:off x="6915150" y="1685925"/>
            <a:ext cx="2000250" cy="1800225"/>
            <a:chOff x="0" y="0"/>
            <a:chExt cx="2000250" cy="1800225"/>
          </a:xfrm>
        </p:grpSpPr>
        <p:sp>
          <p:nvSpPr>
            <p:cNvPr id="33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34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5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↑</a:t>
              </a:r>
              <a:endParaRPr lang="en-US" sz="1600" dirty="0"/>
            </a:p>
          </p:txBody>
        </p:sp>
        <p:sp>
          <p:nvSpPr>
            <p:cNvPr id="36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自下擦除</a:t>
              </a:r>
              <a:endParaRPr lang="en-US" sz="1100" dirty="0"/>
            </a:p>
          </p:txBody>
        </p:sp>
        <p:sp>
          <p:nvSpPr>
            <p:cNvPr id="37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38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data-animation="wipe-bottom"</a:t>
              </a:r>
              <a:endParaRPr lang="en-US" sz="600" dirty="0"/>
            </a:p>
          </p:txBody>
        </p:sp>
        <p:sp>
          <p:nvSpPr>
            <p:cNvPr id="39" name=""/>
            <p:cNvSpPr/>
            <p:nvPr/>
          </p:nvSpPr>
          <p:spPr>
            <a:xfrm>
              <a:off x="150019" y="1052922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Wipe · From Bottom</a:t>
              </a:r>
              <a:endParaRPr lang="en-US" sz="700" dirty="0"/>
            </a:p>
          </p:txBody>
        </p:sp>
        <p:sp>
          <p:nvSpPr>
            <p:cNvPr id="40" name=""/>
            <p:cNvSpPr/>
            <p:nvPr/>
          </p:nvSpPr>
          <p:spPr>
            <a:xfrm>
              <a:off x="150019" y="1272927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次单击各播放一次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Wipe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；元素像被「擦出来」一样沿标注方向逐渐显示，动画窗格中效果名为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Wipe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（擦除）。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p:transition spd="med">
    <p:cut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0406" y="292894"/>
            <a:ext cx="3135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06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触发模型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· click / with / after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播放行为：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单击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→ ① Fade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播放，同时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②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与之并行（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with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→ ①②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结束后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③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自动播放（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after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700" dirty="0"/>
          </a:p>
        </p:txBody>
      </p:sp>
      <p:grpSp>
        <p:nvGrpSpPr>
          <p:cNvPr id="33" name="dh-grp-decl-trig-click"/>
          <p:cNvGrpSpPr/>
          <p:nvPr/>
        </p:nvGrpSpPr>
        <p:grpSpPr>
          <a:xfrm>
            <a:off x="400050" y="1771650"/>
            <a:ext cx="2514600" cy="1714500"/>
            <a:chOff x="0" y="0"/>
            <a:chExt cx="2514600" cy="1714500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514600" cy="17145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85738"/>
              <a:ext cx="817625" cy="164306"/>
            </a:xfrm>
            <a:prstGeom prst="roundRect">
              <a:avLst>
                <a:gd name="adj" fmla="val 26087"/>
              </a:avLst>
            </a:prstGeom>
            <a:solidFill>
              <a:srgbClr val="2563EB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</a:rPr>
                <a:t>① click </a:t>
              </a:r>
              <a:r>
                <a:rPr lang="zh-CN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</a:rPr>
                <a:t>单击开始</a:t>
              </a:r>
              <a:endParaRPr lang="en-US" sz="7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21481"/>
              <a:ext cx="221456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PingFang SC" pitchFamily="34" charset="0"/>
                </a:rPr>
                <a:t>Fade In</a:t>
              </a:r>
              <a:endParaRPr lang="en-US" sz="1200" dirty="0"/>
            </a:p>
          </p:txBody>
        </p:sp>
        <p:sp>
          <p:nvSpPr>
            <p:cNvPr id="13" name=""/>
            <p:cNvSpPr/>
            <p:nvPr/>
          </p:nvSpPr>
          <p:spPr>
            <a:xfrm>
              <a:off x="150019" y="707231"/>
              <a:ext cx="2214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14" name=""/>
            <p:cNvSpPr/>
            <p:nvPr/>
          </p:nvSpPr>
          <p:spPr>
            <a:xfrm>
              <a:off x="150019" y="707231"/>
              <a:ext cx="2214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data-animation="fade-in"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data-animation-trigger="click"</a:t>
              </a:r>
              <a:endParaRPr lang="en-US" sz="6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184300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zh-CN" sz="700" b="1" dirty="0">
                  <a:solidFill>
                    <a:srgbClr val="2563EB"/>
                  </a:solidFill>
                  <a:latin typeface="PingFang SC" pitchFamily="34" charset="0"/>
                  <a:ea typeface="PingFang SC" pitchFamily="34" charset="-122"/>
                </a:rPr>
                <a:t>单击时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播放（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On Click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700" dirty="0"/>
            </a:p>
          </p:txBody>
        </p:sp>
      </p:grpSp>
      <p:grpSp>
        <p:nvGrpSpPr>
          <p:cNvPr id="34" name="dh-grp-decl-trig-with"/>
          <p:cNvGrpSpPr/>
          <p:nvPr/>
        </p:nvGrpSpPr>
        <p:grpSpPr>
          <a:xfrm>
            <a:off x="3314700" y="1771650"/>
            <a:ext cx="2514600" cy="1714500"/>
            <a:chOff x="0" y="0"/>
            <a:chExt cx="2514600" cy="1714500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2514600" cy="17145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50019" y="185738"/>
              <a:ext cx="885044" cy="164306"/>
            </a:xfrm>
            <a:prstGeom prst="roundRect">
              <a:avLst>
                <a:gd name="adj" fmla="val 26087"/>
              </a:avLst>
            </a:prstGeom>
            <a:solidFill>
              <a:srgbClr val="0D9488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</a:rPr>
                <a:t>② with </a:t>
              </a:r>
              <a:r>
                <a:rPr lang="zh-CN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</a:rPr>
                <a:t>与上一同时</a:t>
              </a:r>
              <a:endParaRPr lang="en-US" sz="7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50019" y="421481"/>
              <a:ext cx="221456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PingFang SC" pitchFamily="34" charset="0"/>
                </a:rPr>
                <a:t>Fly In Left</a:t>
              </a:r>
              <a:endParaRPr lang="en-US" sz="1200" dirty="0"/>
            </a:p>
          </p:txBody>
        </p:sp>
        <p:sp>
          <p:nvSpPr>
            <p:cNvPr id="20" name=""/>
            <p:cNvSpPr/>
            <p:nvPr/>
          </p:nvSpPr>
          <p:spPr>
            <a:xfrm>
              <a:off x="150019" y="707231"/>
              <a:ext cx="2214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1" name=""/>
            <p:cNvSpPr/>
            <p:nvPr/>
          </p:nvSpPr>
          <p:spPr>
            <a:xfrm>
              <a:off x="150019" y="707231"/>
              <a:ext cx="2214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data-animation="fly-in-left"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data-animation-trigger="with"</a:t>
              </a:r>
              <a:endParaRPr lang="en-US" sz="6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50019" y="1184300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zh-CN" sz="700" b="1" dirty="0">
                  <a:solidFill>
                    <a:srgbClr val="2563EB"/>
                  </a:solidFill>
                  <a:latin typeface="PingFang SC" pitchFamily="34" charset="0"/>
                  <a:ea typeface="PingFang SC" pitchFamily="34" charset="-122"/>
                </a:rPr>
                <a:t>与上一动画同时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With Previous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700" dirty="0"/>
            </a:p>
          </p:txBody>
        </p:sp>
      </p:grpSp>
      <p:grpSp>
        <p:nvGrpSpPr>
          <p:cNvPr id="35" name="dh-grp-decl-trig-after"/>
          <p:cNvGrpSpPr/>
          <p:nvPr/>
        </p:nvGrpSpPr>
        <p:grpSpPr>
          <a:xfrm>
            <a:off x="6229350" y="1771650"/>
            <a:ext cx="2514600" cy="1714500"/>
            <a:chOff x="0" y="0"/>
            <a:chExt cx="2514600" cy="1714500"/>
          </a:xfrm>
        </p:grpSpPr>
        <p:sp>
          <p:nvSpPr>
            <p:cNvPr id="23" name=""/>
            <p:cNvSpPr/>
            <p:nvPr/>
          </p:nvSpPr>
          <p:spPr>
            <a:xfrm>
              <a:off x="0" y="0"/>
              <a:ext cx="2514600" cy="17145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4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25" name=""/>
            <p:cNvSpPr/>
            <p:nvPr/>
          </p:nvSpPr>
          <p:spPr>
            <a:xfrm>
              <a:off x="150019" y="185738"/>
              <a:ext cx="821754" cy="164306"/>
            </a:xfrm>
            <a:prstGeom prst="roundRect">
              <a:avLst>
                <a:gd name="adj" fmla="val 26087"/>
              </a:avLst>
            </a:prstGeom>
            <a:solidFill>
              <a:srgbClr val="EA580C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</a:rPr>
                <a:t>③ after </a:t>
              </a:r>
              <a:r>
                <a:rPr lang="zh-CN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</a:rPr>
                <a:t>上一之后</a:t>
              </a:r>
              <a:endParaRPr lang="en-US" sz="700" dirty="0"/>
            </a:p>
          </p:txBody>
        </p:sp>
        <p:sp>
          <p:nvSpPr>
            <p:cNvPr id="26" name=""/>
            <p:cNvSpPr/>
            <p:nvPr/>
          </p:nvSpPr>
          <p:spPr>
            <a:xfrm>
              <a:off x="150019" y="421481"/>
              <a:ext cx="221456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200" b="1" dirty="0">
                  <a:solidFill>
                    <a:srgbClr val="0F172A"/>
                  </a:solidFill>
                  <a:latin typeface="PingFang SC" pitchFamily="34" charset="0"/>
                </a:rPr>
                <a:t>Zoom In</a:t>
              </a:r>
              <a:endParaRPr lang="en-US" sz="1200" dirty="0"/>
            </a:p>
          </p:txBody>
        </p:sp>
        <p:sp>
          <p:nvSpPr>
            <p:cNvPr id="27" name=""/>
            <p:cNvSpPr/>
            <p:nvPr/>
          </p:nvSpPr>
          <p:spPr>
            <a:xfrm>
              <a:off x="150019" y="707231"/>
              <a:ext cx="2214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8" name=""/>
            <p:cNvSpPr/>
            <p:nvPr/>
          </p:nvSpPr>
          <p:spPr>
            <a:xfrm>
              <a:off x="150019" y="707231"/>
              <a:ext cx="2214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data-animation="zoom-in"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data-animation-trigger="after"</a:t>
              </a:r>
              <a:endParaRPr lang="en-US" sz="6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1184300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zh-CN" sz="700" b="1" dirty="0">
                  <a:solidFill>
                    <a:srgbClr val="2563EB"/>
                  </a:solidFill>
                  <a:latin typeface="PingFang SC" pitchFamily="34" charset="0"/>
                  <a:ea typeface="PingFang SC" pitchFamily="34" charset="-122"/>
                </a:rPr>
                <a:t>上一动画之后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自动播放（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After Previous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700" dirty="0"/>
            </a:p>
          </p:txBody>
        </p:sp>
      </p:grpSp>
      <p:sp>
        <p:nvSpPr>
          <p:cNvPr id="30" name="Shape 27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动画窗格中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①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带鼠标图标（单击开始）、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②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时间条与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①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对齐起点（同时）、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③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紧跟其后（之后）；放映时一次单击应看到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①②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同时动、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③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随后自动接上。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rism dir="u" isContent="0" isInverted="0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4760" y="292894"/>
            <a:ext cx="3091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07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时长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/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延迟的时间语法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"800" / "800ms" / "0.8s"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三种写法都解析为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0.8s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；第四个元素带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0.5s </a:t>
            </a:r>
            <a:r>
              <a:rPr lang="zh-CN" sz="7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</a:rPr>
              <a:t>延迟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delay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700" dirty="0"/>
          </a:p>
        </p:txBody>
      </p:sp>
      <p:grpSp>
        <p:nvGrpSpPr>
          <p:cNvPr id="40" name="dh-grp-decl-dur-number"/>
          <p:cNvGrpSpPr/>
          <p:nvPr/>
        </p:nvGrpSpPr>
        <p:grpSpPr>
          <a:xfrm>
            <a:off x="228600" y="1685925"/>
            <a:ext cx="2000250" cy="1800225"/>
            <a:chOff x="0" y="0"/>
            <a:chExt cx="20002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纯数字（</a:t>
              </a: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ms</a:t>
              </a: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11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50056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50019" y="450056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data-animation-duration="800"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50019" y="781459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Fade · 0.8s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001464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1" name="dh-grp-decl-dur-ms"/>
          <p:cNvGrpSpPr/>
          <p:nvPr/>
        </p:nvGrpSpPr>
        <p:grpSpPr>
          <a:xfrm>
            <a:off x="2457450" y="1685925"/>
            <a:ext cx="2000250" cy="1800225"/>
            <a:chOff x="0" y="0"/>
            <a:chExt cx="200025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50019" y="178594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毫秒单位</a:t>
              </a:r>
              <a:endParaRPr lang="en-US" sz="11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50019" y="450056"/>
              <a:ext cx="170021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50019" y="450056"/>
              <a:ext cx="1700213" cy="405631"/>
            </a:xfrm>
            <a:prstGeom prst="rect">
              <a:avLst/>
            </a:prstGeom>
            <a:noFill/>
            <a:ln/>
          </p:spPr>
          <p:txBody>
            <a:bodyPr wrap="squar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data-animation-duration="800ms"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927125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Fade · 0.8s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50019" y="1147130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2" name="dh-grp-decl-dur-s"/>
          <p:cNvGrpSpPr/>
          <p:nvPr/>
        </p:nvGrpSpPr>
        <p:grpSpPr>
          <a:xfrm>
            <a:off x="4686300" y="1685925"/>
            <a:ext cx="2000250" cy="1800225"/>
            <a:chOff x="0" y="0"/>
            <a:chExt cx="2000250" cy="1800225"/>
          </a:xfrm>
        </p:grpSpPr>
        <p:sp>
          <p:nvSpPr>
            <p:cNvPr id="23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4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25" name=""/>
            <p:cNvSpPr/>
            <p:nvPr/>
          </p:nvSpPr>
          <p:spPr>
            <a:xfrm>
              <a:off x="150019" y="178594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秒单位</a:t>
              </a:r>
              <a:endParaRPr lang="en-US" sz="1100" dirty="0"/>
            </a:p>
          </p:txBody>
        </p:sp>
        <p:sp>
          <p:nvSpPr>
            <p:cNvPr id="26" name=""/>
            <p:cNvSpPr/>
            <p:nvPr/>
          </p:nvSpPr>
          <p:spPr>
            <a:xfrm>
              <a:off x="150019" y="450056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27" name=""/>
            <p:cNvSpPr/>
            <p:nvPr/>
          </p:nvSpPr>
          <p:spPr>
            <a:xfrm>
              <a:off x="150019" y="450056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data-animation-duration="0.8s"</a:t>
              </a:r>
              <a:endParaRPr lang="en-US" sz="600" dirty="0"/>
            </a:p>
          </p:txBody>
        </p:sp>
        <p:sp>
          <p:nvSpPr>
            <p:cNvPr id="28" name=""/>
            <p:cNvSpPr/>
            <p:nvPr/>
          </p:nvSpPr>
          <p:spPr>
            <a:xfrm>
              <a:off x="150019" y="781459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Fade · 0.8s</a:t>
              </a:r>
              <a:endParaRPr lang="en-US" sz="7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1001464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3" name="dh-grp-decl-delay"/>
          <p:cNvGrpSpPr/>
          <p:nvPr/>
        </p:nvGrpSpPr>
        <p:grpSpPr>
          <a:xfrm>
            <a:off x="6915150" y="1685925"/>
            <a:ext cx="2000250" cy="1800225"/>
            <a:chOff x="0" y="0"/>
            <a:chExt cx="2000250" cy="1800225"/>
          </a:xfrm>
        </p:grpSpPr>
        <p:sp>
          <p:nvSpPr>
            <p:cNvPr id="30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31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2" name=""/>
            <p:cNvSpPr/>
            <p:nvPr/>
          </p:nvSpPr>
          <p:spPr>
            <a:xfrm>
              <a:off x="150019" y="178594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1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带延迟</a:t>
              </a:r>
              <a:endParaRPr lang="en-US" sz="1100" dirty="0"/>
            </a:p>
          </p:txBody>
        </p:sp>
        <p:sp>
          <p:nvSpPr>
            <p:cNvPr id="33" name=""/>
            <p:cNvSpPr/>
            <p:nvPr/>
          </p:nvSpPr>
          <p:spPr>
            <a:xfrm>
              <a:off x="150019" y="450056"/>
              <a:ext cx="170021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34" name=""/>
            <p:cNvSpPr/>
            <p:nvPr/>
          </p:nvSpPr>
          <p:spPr>
            <a:xfrm>
              <a:off x="150019" y="450056"/>
              <a:ext cx="170021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data-animation-duration="600"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data-animation-delay="0.5s"</a:t>
              </a:r>
              <a:endParaRPr lang="en-US" sz="600" dirty="0"/>
            </a:p>
          </p:txBody>
        </p:sp>
        <p:sp>
          <p:nvSpPr>
            <p:cNvPr id="35" name=""/>
            <p:cNvSpPr/>
            <p:nvPr/>
          </p:nvSpPr>
          <p:spPr>
            <a:xfrm>
              <a:off x="150019" y="927125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0.6s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，延迟 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0.5s</a:t>
              </a:r>
              <a:endParaRPr lang="en-US" sz="700" dirty="0"/>
            </a:p>
          </p:txBody>
        </p:sp>
        <p:sp>
          <p:nvSpPr>
            <p:cNvPr id="36" name=""/>
            <p:cNvSpPr/>
            <p:nvPr/>
          </p:nvSpPr>
          <p:spPr>
            <a:xfrm>
              <a:off x="150019" y="1147130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sp>
        <p:nvSpPr>
          <p:cNvPr id="37" name="Shape 34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前三个动画的持续时间应完全相同（均为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0.8s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，三种时间写法等价）；第四个动画单击后停顿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0.5s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再播放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0.6s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的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Fly In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（动画窗格「延迟」列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= 0.5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）。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ash/>
      </p:transition>
    </mc:Choice>
    <mc:Fallback>
      <p:transition spd="med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633463" cy="20002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633463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CSS @keyframes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自动推断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0406" y="292894"/>
            <a:ext cx="3135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08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opacity: 0 → 1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推断为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Fade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Fade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淡入（各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0.7s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）；第二个带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0.3s </a:t>
            </a:r>
            <a:r>
              <a:rPr lang="zh-CN" sz="7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</a:rPr>
              <a:t>延迟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CSS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捕获的动画默认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afterPrevious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，按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DOM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顺序自动连播</a:t>
            </a:r>
            <a:endParaRPr lang="en-US" sz="700" dirty="0"/>
          </a:p>
        </p:txBody>
      </p:sp>
      <p:grpSp>
        <p:nvGrpSpPr>
          <p:cNvPr id="26" name="dh-grp-css-fade"/>
          <p:cNvGrpSpPr/>
          <p:nvPr/>
        </p:nvGrpSpPr>
        <p:grpSpPr>
          <a:xfrm>
            <a:off x="685800" y="1685925"/>
            <a:ext cx="3714750" cy="1827014"/>
            <a:chOff x="0" y="0"/>
            <a:chExt cx="3714750" cy="1827014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CSS </a:t>
              </a: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淡入</a:t>
              </a:r>
              <a:endParaRPr lang="en-US" sz="13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78594" y="514350"/>
              <a:ext cx="3357563" cy="842628"/>
            </a:xfrm>
            <a:prstGeom prst="roundRect">
              <a:avLst>
                <a:gd name="adj" fmla="val 6782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78594" y="514350"/>
              <a:ext cx="3357563" cy="842628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@keyframes cssFade {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from { opacity: 0;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to   { opacity: 1;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animation: cssFade 0.7s both;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78594" y="1442703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Fade · 0.7s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（无需任何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data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属性）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78594" y="1662708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27" name="dh-grp-css-fade-delay"/>
          <p:cNvGrpSpPr/>
          <p:nvPr/>
        </p:nvGrpSpPr>
        <p:grpSpPr>
          <a:xfrm>
            <a:off x="4743450" y="1685925"/>
            <a:ext cx="3714750" cy="1800225"/>
            <a:chOff x="0" y="0"/>
            <a:chExt cx="371475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CSS </a:t>
              </a: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淡入 </a:t>
              </a: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· </a:t>
              </a: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带延迟</a:t>
              </a:r>
              <a:endParaRPr lang="en-US" sz="13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animation: cssFade 0.7s ease-out 0.3s both;</a:t>
              </a:r>
              <a:br/>
              <a:r>
                <a:rPr lang="zh-CN" sz="600" dirty="0">
                  <a:solidFill>
                    <a:srgbClr val="334155"/>
                  </a:solidFill>
                  <a:latin typeface="PingFang SC" pitchFamily="34" charset="0"/>
                  <a:ea typeface="PingFang SC" pitchFamily="34" charset="-122"/>
                </a:rPr>
                <a:t>（</a:t>
              </a: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animation-delay: 0.3s</a:t>
              </a:r>
              <a:r>
                <a:rPr lang="zh-CN" sz="600" dirty="0">
                  <a:solidFill>
                    <a:srgbClr val="334155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78594" y="1005706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Fade · 0.7s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，延迟 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0.3s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78594" y="1225711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sp>
        <p:nvSpPr>
          <p:cNvPr id="23" name="Shape 20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进入放映后两个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依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DOM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顺序自动连播（先左后右，右侧延迟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0.3s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）；动画窗格中效果名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、计时「上一动画之后」；缓动曲线被丢弃（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PPTX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线性），属预期行为。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0D9488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vortex dir="r"/>
      </p:transition>
    </mc:Choice>
    <mc:Fallback>
      <p:transition spd="med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633463" cy="20002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633463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CSS @keyframes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自动推断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30406" y="292894"/>
            <a:ext cx="3135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09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位移矢量推断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Fly In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方向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Fly In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（各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0.8s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），方向由首末帧位移矢量决定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—— </a:t>
            </a:r>
            <a:r>
              <a:rPr lang="zh-CN" sz="7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</a:rPr>
              <a:t>自左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</a:rPr>
              <a:t>自右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</a:rPr>
              <a:t>自上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/ </a:t>
            </a:r>
            <a:r>
              <a:rPr lang="zh-CN" sz="7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</a:rPr>
              <a:t>自下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；默认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afterPrevious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自动连播</a:t>
            </a:r>
            <a:endParaRPr lang="en-US" sz="700" dirty="0"/>
          </a:p>
        </p:txBody>
      </p:sp>
      <p:grpSp>
        <p:nvGrpSpPr>
          <p:cNvPr id="44" name="dh-grp-css-fly-left"/>
          <p:cNvGrpSpPr/>
          <p:nvPr/>
        </p:nvGrpSpPr>
        <p:grpSpPr>
          <a:xfrm>
            <a:off x="228600" y="1685925"/>
            <a:ext cx="2000250" cy="1800225"/>
            <a:chOff x="0" y="0"/>
            <a:chExt cx="20002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0D9488"/>
                  </a:solidFill>
                  <a:latin typeface="PingFang SC" pitchFamily="34" charset="0"/>
                </a:rPr>
                <a:t>→</a:t>
              </a:r>
              <a:endParaRPr lang="en-US" sz="16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translateX(-)→0</a:t>
              </a:r>
              <a:endParaRPr lang="en-US" sz="1100" dirty="0"/>
            </a:p>
          </p:txBody>
        </p:sp>
        <p:sp>
          <p:nvSpPr>
            <p:cNvPr id="13" name=""/>
            <p:cNvSpPr/>
            <p:nvPr/>
          </p:nvSpPr>
          <p:spPr>
            <a:xfrm>
              <a:off x="150019" y="721519"/>
              <a:ext cx="170021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14" name=""/>
            <p:cNvSpPr/>
            <p:nvPr/>
          </p:nvSpPr>
          <p:spPr>
            <a:xfrm>
              <a:off x="150019" y="721519"/>
              <a:ext cx="170021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from: translateX(-240px)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to: translateX(0)</a:t>
              </a:r>
              <a:endParaRPr lang="en-US" sz="6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198587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Fly In · From Left</a:t>
              </a:r>
              <a:endParaRPr lang="en-US" sz="700" dirty="0"/>
            </a:p>
          </p:txBody>
        </p:sp>
        <p:sp>
          <p:nvSpPr>
            <p:cNvPr id="16" name=""/>
            <p:cNvSpPr/>
            <p:nvPr/>
          </p:nvSpPr>
          <p:spPr>
            <a:xfrm>
              <a:off x="150019" y="1418592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45" name="dh-grp-css-fly-right"/>
          <p:cNvGrpSpPr/>
          <p:nvPr/>
        </p:nvGrpSpPr>
        <p:grpSpPr>
          <a:xfrm>
            <a:off x="2457450" y="1685925"/>
            <a:ext cx="2000250" cy="1800225"/>
            <a:chOff x="0" y="0"/>
            <a:chExt cx="2000250" cy="1800225"/>
          </a:xfrm>
        </p:grpSpPr>
        <p:sp>
          <p:nvSpPr>
            <p:cNvPr id="17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8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9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0D9488"/>
                  </a:solidFill>
                  <a:latin typeface="PingFang SC" pitchFamily="34" charset="0"/>
                </a:rPr>
                <a:t>←</a:t>
              </a:r>
              <a:endParaRPr lang="en-US" sz="1600" dirty="0"/>
            </a:p>
          </p:txBody>
        </p:sp>
        <p:sp>
          <p:nvSpPr>
            <p:cNvPr id="20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translateX(+)→0</a:t>
              </a:r>
              <a:endParaRPr lang="en-US" sz="11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721519"/>
              <a:ext cx="170021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2" name=""/>
            <p:cNvSpPr/>
            <p:nvPr/>
          </p:nvSpPr>
          <p:spPr>
            <a:xfrm>
              <a:off x="150019" y="721519"/>
              <a:ext cx="170021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from: translateX(240px)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to: translateX(0)</a:t>
              </a:r>
              <a:endParaRPr lang="en-US" sz="600" dirty="0"/>
            </a:p>
          </p:txBody>
        </p:sp>
        <p:sp>
          <p:nvSpPr>
            <p:cNvPr id="23" name=""/>
            <p:cNvSpPr/>
            <p:nvPr/>
          </p:nvSpPr>
          <p:spPr>
            <a:xfrm>
              <a:off x="150019" y="1198587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Fly In · From Right</a:t>
              </a:r>
              <a:endParaRPr lang="en-US" sz="700" dirty="0"/>
            </a:p>
          </p:txBody>
        </p:sp>
        <p:sp>
          <p:nvSpPr>
            <p:cNvPr id="24" name=""/>
            <p:cNvSpPr/>
            <p:nvPr/>
          </p:nvSpPr>
          <p:spPr>
            <a:xfrm>
              <a:off x="150019" y="1418592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46" name="dh-grp-css-fly-top"/>
          <p:cNvGrpSpPr/>
          <p:nvPr/>
        </p:nvGrpSpPr>
        <p:grpSpPr>
          <a:xfrm>
            <a:off x="4686300" y="1685925"/>
            <a:ext cx="2000250" cy="1800225"/>
            <a:chOff x="0" y="0"/>
            <a:chExt cx="2000250" cy="1800225"/>
          </a:xfrm>
        </p:grpSpPr>
        <p:sp>
          <p:nvSpPr>
            <p:cNvPr id="25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6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27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0D9488"/>
                  </a:solidFill>
                  <a:latin typeface="PingFang SC" pitchFamily="34" charset="0"/>
                </a:rPr>
                <a:t>↓</a:t>
              </a:r>
              <a:endParaRPr lang="en-US" sz="1600" dirty="0"/>
            </a:p>
          </p:txBody>
        </p:sp>
        <p:sp>
          <p:nvSpPr>
            <p:cNvPr id="28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translateY(-)→0</a:t>
              </a:r>
              <a:endParaRPr lang="en-US" sz="11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721519"/>
              <a:ext cx="170021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30" name=""/>
            <p:cNvSpPr/>
            <p:nvPr/>
          </p:nvSpPr>
          <p:spPr>
            <a:xfrm>
              <a:off x="150019" y="721519"/>
              <a:ext cx="170021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from: translateY(-200px)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to: translateY(0)</a:t>
              </a:r>
              <a:endParaRPr lang="en-US" sz="600" dirty="0"/>
            </a:p>
          </p:txBody>
        </p:sp>
        <p:sp>
          <p:nvSpPr>
            <p:cNvPr id="31" name=""/>
            <p:cNvSpPr/>
            <p:nvPr/>
          </p:nvSpPr>
          <p:spPr>
            <a:xfrm>
              <a:off x="150019" y="1198587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Fly In · From Top</a:t>
              </a:r>
              <a:endParaRPr lang="en-US" sz="700" dirty="0"/>
            </a:p>
          </p:txBody>
        </p:sp>
        <p:sp>
          <p:nvSpPr>
            <p:cNvPr id="32" name=""/>
            <p:cNvSpPr/>
            <p:nvPr/>
          </p:nvSpPr>
          <p:spPr>
            <a:xfrm>
              <a:off x="150019" y="1418592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47" name="dh-grp-css-fly-bottom"/>
          <p:cNvGrpSpPr/>
          <p:nvPr/>
        </p:nvGrpSpPr>
        <p:grpSpPr>
          <a:xfrm>
            <a:off x="6915150" y="1685925"/>
            <a:ext cx="2000250" cy="1800225"/>
            <a:chOff x="0" y="0"/>
            <a:chExt cx="2000250" cy="1800225"/>
          </a:xfrm>
        </p:grpSpPr>
        <p:sp>
          <p:nvSpPr>
            <p:cNvPr id="33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34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35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0D9488"/>
                  </a:solidFill>
                  <a:latin typeface="PingFang SC" pitchFamily="34" charset="0"/>
                </a:rPr>
                <a:t>↑</a:t>
              </a:r>
              <a:endParaRPr lang="en-US" sz="1600" dirty="0"/>
            </a:p>
          </p:txBody>
        </p:sp>
        <p:sp>
          <p:nvSpPr>
            <p:cNvPr id="36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translateY(+)→0</a:t>
              </a:r>
              <a:endParaRPr lang="en-US" sz="1100" dirty="0"/>
            </a:p>
          </p:txBody>
        </p:sp>
        <p:sp>
          <p:nvSpPr>
            <p:cNvPr id="37" name=""/>
            <p:cNvSpPr/>
            <p:nvPr/>
          </p:nvSpPr>
          <p:spPr>
            <a:xfrm>
              <a:off x="150019" y="721519"/>
              <a:ext cx="170021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38" name=""/>
            <p:cNvSpPr/>
            <p:nvPr/>
          </p:nvSpPr>
          <p:spPr>
            <a:xfrm>
              <a:off x="150019" y="721519"/>
              <a:ext cx="170021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from: translateY(200px)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to: translateY(0)</a:t>
              </a:r>
              <a:endParaRPr lang="en-US" sz="600" dirty="0"/>
            </a:p>
          </p:txBody>
        </p:sp>
        <p:sp>
          <p:nvSpPr>
            <p:cNvPr id="39" name=""/>
            <p:cNvSpPr/>
            <p:nvPr/>
          </p:nvSpPr>
          <p:spPr>
            <a:xfrm>
              <a:off x="150019" y="1198587"/>
              <a:ext cx="170021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Fly In · From Bottom</a:t>
              </a:r>
              <a:endParaRPr lang="en-US" sz="700" dirty="0"/>
            </a:p>
          </p:txBody>
        </p:sp>
        <p:sp>
          <p:nvSpPr>
            <p:cNvPr id="40" name=""/>
            <p:cNvSpPr/>
            <p:nvPr/>
          </p:nvSpPr>
          <p:spPr>
            <a:xfrm>
              <a:off x="150019" y="1418592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个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Fly In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按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DOM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顺序自动连播，方向与卡片标注一致；位移方向取首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→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末帧的运动矢量（元素回到原位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=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从反方向飞入）。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0D9488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ythrough dir="in" hasBounce="0"/>
      </p:transition>
    </mc:Choice>
    <mc:Fallback>
      <p:transition spd="med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4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633463" cy="20002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633463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CSS @keyframes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自动推断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10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scale → Zoom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，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rotate → Spin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：左侧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0.6s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，对象中心）；右侧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Spin 180°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0.9s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，强调类，角度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=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首末帧旋转差）</a:t>
            </a:r>
            <a:endParaRPr lang="en-US" sz="700" dirty="0"/>
          </a:p>
        </p:txBody>
      </p:sp>
      <p:grpSp>
        <p:nvGrpSpPr>
          <p:cNvPr id="26" name="dh-grp-css-zoom"/>
          <p:cNvGrpSpPr/>
          <p:nvPr/>
        </p:nvGrpSpPr>
        <p:grpSpPr>
          <a:xfrm>
            <a:off x="685800" y="1685925"/>
            <a:ext cx="3714750" cy="1800225"/>
            <a:chOff x="0" y="0"/>
            <a:chExt cx="37147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scale(0) → scale(1)</a:t>
              </a:r>
              <a:endParaRPr lang="en-US" sz="13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78594" y="514350"/>
              <a:ext cx="3357563" cy="696962"/>
            </a:xfrm>
            <a:prstGeom prst="roundRect">
              <a:avLst>
                <a:gd name="adj" fmla="val 8200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78594" y="514350"/>
              <a:ext cx="3357563" cy="696962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@keyframes cssZoom {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from { transform: scale(0);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to   { transform: scale(1);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}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78594" y="1297037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Zoom · 0.6s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（进入类，对象中心）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78594" y="1517042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27" name="dh-grp-css-spin"/>
          <p:cNvGrpSpPr/>
          <p:nvPr/>
        </p:nvGrpSpPr>
        <p:grpSpPr>
          <a:xfrm>
            <a:off x="4743450" y="1685925"/>
            <a:ext cx="3714750" cy="1800225"/>
            <a:chOff x="0" y="0"/>
            <a:chExt cx="371475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rotate(-180°) → 0°</a:t>
              </a:r>
              <a:endParaRPr lang="en-US" sz="13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78594" y="514350"/>
              <a:ext cx="3357563" cy="696962"/>
            </a:xfrm>
            <a:prstGeom prst="roundRect">
              <a:avLst>
                <a:gd name="adj" fmla="val 8200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78594" y="514350"/>
              <a:ext cx="3357563" cy="696962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@keyframes cssSpin {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from { transform: rotate(-180deg);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to   { transform: rotate(0deg);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}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78594" y="1297037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Spin 180° · 0.9s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（强调类，顺时针）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78594" y="1517042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sp>
        <p:nvSpPr>
          <p:cNvPr id="23" name="Shape 20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Zoom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为进入动画（元素先隐藏再放大出现）；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Spin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为强调动画（元素可见，原地旋转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180°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）；旋转角度取首末帧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rotate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差值并保留方向符号。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0D9488"/>
          </a:solidFill>
          <a:ln/>
        </p:spPr>
      </p:sp>
    </p:spTree>
  </p:cSld>
  <p:clrMapOvr>
    <a:masterClrMapping/>
  </p:clrMapOvr>
  <p:transition spd="med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3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633463" cy="20002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633463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CSS @keyframes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自动推断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65679" y="292894"/>
            <a:ext cx="27827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11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opacity +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单轴位移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⇒ Fade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与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Fly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并行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21544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：每个元素拆为 </a:t>
            </a:r>
            <a:r>
              <a:rPr lang="en-US" sz="700" b="1" dirty="0">
                <a:solidFill>
                  <a:srgbClr val="0D9488"/>
                </a:solidFill>
                <a:latin typeface="PingFang SC" pitchFamily="34" charset="0"/>
              </a:rPr>
              <a:t>Fade + Fly In </a:t>
            </a:r>
            <a:r>
              <a:rPr lang="zh-CN" sz="7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</a:rPr>
              <a:t>两个并行效果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（同时播放）；左卡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Fade +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自左飞入，右卡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Fade +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自下飞入</a:t>
            </a:r>
            <a:endParaRPr lang="en-US" sz="700" dirty="0"/>
          </a:p>
        </p:txBody>
      </p:sp>
      <p:grpSp>
        <p:nvGrpSpPr>
          <p:cNvPr id="26" name="dh-grp-css-fade-fly-x"/>
          <p:cNvGrpSpPr/>
          <p:nvPr/>
        </p:nvGrpSpPr>
        <p:grpSpPr>
          <a:xfrm>
            <a:off x="685800" y="1685925"/>
            <a:ext cx="3714750" cy="1800225"/>
            <a:chOff x="0" y="0"/>
            <a:chExt cx="37147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opacity 0→1 + translateX</a:t>
              </a:r>
              <a:endParaRPr lang="en-US" sz="13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from { opacity: 0; transform: translateX(-240px);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to   { opacity: 1; transform: translateX(0); }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78594" y="1005706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Fade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与 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Fly In · From Left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并行，各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0.8s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78594" y="1225711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27" name="dh-grp-css-fade-fly-y"/>
          <p:cNvGrpSpPr/>
          <p:nvPr/>
        </p:nvGrpSpPr>
        <p:grpSpPr>
          <a:xfrm>
            <a:off x="4743450" y="1685925"/>
            <a:ext cx="3714750" cy="1800225"/>
            <a:chOff x="0" y="0"/>
            <a:chExt cx="371475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opacity 0→1 + translateY</a:t>
              </a:r>
              <a:endParaRPr lang="en-US" sz="13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from { opacity: 0; transform: translateY(180px); }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to   { opacity: 1; transform: translateY(0); }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78594" y="1005706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Fade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与 </a:t>
              </a: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Fly In · From Bottom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并行，各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0.8s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78594" y="1225711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0FDFA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0D9488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sp>
        <p:nvSpPr>
          <p:cNvPr id="23" name="Shape 20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动画窗格中每个元素对应两条计时相同的效果（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 + Fly In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），播放时表现为「边淡入边滑入」；这是规范化子集允许的唯一并行组合（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 +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单轴位移）。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0D9488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airplane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369814" cy="2000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369814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anime.js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全局调用拦截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12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anime()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参数推断入场效果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：左卡 </a:t>
            </a: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Fade + Fly In · From Left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并行（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0.8s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）；右卡 </a:t>
            </a: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0.6s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）；捕获动画默认 </a:t>
            </a: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afterPrevious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自动连播</a:t>
            </a:r>
            <a:endParaRPr lang="en-US" sz="700" dirty="0"/>
          </a:p>
        </p:txBody>
      </p:sp>
      <p:grpSp>
        <p:nvGrpSpPr>
          <p:cNvPr id="26" name="dh-grp-anime-fade-fly"/>
          <p:cNvGrpSpPr/>
          <p:nvPr/>
        </p:nvGrpSpPr>
        <p:grpSpPr>
          <a:xfrm>
            <a:off x="685800" y="1685925"/>
            <a:ext cx="3714750" cy="1800225"/>
            <a:chOff x="0" y="0"/>
            <a:chExt cx="37147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opacity[0,1] + translateX[-260,0]</a:t>
              </a:r>
              <a:endParaRPr lang="en-US" sz="13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78594" y="514350"/>
              <a:ext cx="3357563" cy="551297"/>
            </a:xfrm>
            <a:prstGeom prst="roundRect">
              <a:avLst>
                <a:gd name="adj" fmla="val 10366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78594" y="514350"/>
              <a:ext cx="3357563" cy="551297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anime({ targets: '#an-box',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opacity: [0, 1], translateX: [-260, 0],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duration: 800 });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78594" y="1151372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Fade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与 </a:t>
              </a: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Fly In · From Left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并行，各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0.8s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78594" y="1371377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5F3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7C3AED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27" name="dh-grp-anime-zoom"/>
          <p:cNvGrpSpPr/>
          <p:nvPr/>
        </p:nvGrpSpPr>
        <p:grpSpPr>
          <a:xfrm>
            <a:off x="4743450" y="1685925"/>
            <a:ext cx="3714750" cy="1800225"/>
            <a:chOff x="0" y="0"/>
            <a:chExt cx="371475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scale[0,1]</a:t>
              </a:r>
              <a:endParaRPr lang="en-US" sz="13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anime({ targets: '#an-ball',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scale: [0, 1], duration: 600 });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78594" y="1005706"/>
              <a:ext cx="3357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Zoom · 0.6s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（对象中心）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78594" y="1225711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5F3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7C3AED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sp>
        <p:nvSpPr>
          <p:cNvPr id="23" name="Shape 20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通过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window.anime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v3 UMD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）的调用会被代理拦截并映射；动画窗格中应看到左卡两条并行效果（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 + Fly In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）、右卡一条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；缓动曲线被丢弃属预期行为。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7C3AED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warp dir="out"/>
      </p:transition>
    </mc:Choice>
    <mc:Fallback>
      <p:transition spd="med">
        <p:zoom dir="ou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369814" cy="200025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369814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anime.js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全局调用拦截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13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rotate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推断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Spin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与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timeline().add()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序列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① </a:t>
            </a: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Fade + Spin 90°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0.7s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）；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timeline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两次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add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各记录一次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—— ② </a:t>
            </a: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Fly In · From Left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0.6s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③ </a:t>
            </a: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0.6s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），依次连播</a:t>
            </a:r>
            <a:endParaRPr lang="en-US" sz="700" dirty="0"/>
          </a:p>
        </p:txBody>
      </p:sp>
      <p:grpSp>
        <p:nvGrpSpPr>
          <p:cNvPr id="33" name="dh-grp-anime-spin"/>
          <p:cNvGrpSpPr/>
          <p:nvPr/>
        </p:nvGrpSpPr>
        <p:grpSpPr>
          <a:xfrm>
            <a:off x="400050" y="1685925"/>
            <a:ext cx="2514600" cy="1800225"/>
            <a:chOff x="0" y="0"/>
            <a:chExt cx="251460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51460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221456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① rotate[-90,0]</a:t>
              </a:r>
              <a:endParaRPr lang="en-US" sz="11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64344"/>
              <a:ext cx="2214563" cy="551297"/>
            </a:xfrm>
            <a:prstGeom prst="roundRect">
              <a:avLst>
                <a:gd name="adj" fmla="val 10366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50019" y="464344"/>
              <a:ext cx="2214563" cy="551297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anime({ targets: '#an-note',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rotate: [-90, 0], opacity: [0, 1],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duration: 700 });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50019" y="1101365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Fade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+ </a:t>
              </a: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Spin 90°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（角度 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=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差值）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321371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5F3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7C3AED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grpSp>
        <p:nvGrpSpPr>
          <p:cNvPr id="34" name="dh-grp-anime-tl-fly"/>
          <p:cNvGrpSpPr/>
          <p:nvPr/>
        </p:nvGrpSpPr>
        <p:grpSpPr>
          <a:xfrm>
            <a:off x="3314700" y="1685925"/>
            <a:ext cx="2514600" cy="1800225"/>
            <a:chOff x="0" y="0"/>
            <a:chExt cx="251460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251460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250031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50019" y="178594"/>
              <a:ext cx="221456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② timeline.add</a:t>
              </a:r>
              <a:endParaRPr lang="en-US" sz="11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50019" y="464344"/>
              <a:ext cx="2214563" cy="696962"/>
            </a:xfrm>
            <a:prstGeom prst="roundRect">
              <a:avLst>
                <a:gd name="adj" fmla="val 8200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50019" y="464344"/>
              <a:ext cx="2214563" cy="696962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anime.timeline()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.add({ targets: '#tl-a',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  translateX: [-200, 0], duration: 600 })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1247031"/>
              <a:ext cx="2214563" cy="1485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Fly In · From Left · 0.6s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50019" y="1467036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5F3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7C3AED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7C3AED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sp>
        <p:nvSpPr>
          <p:cNvPr id="23" name="anime-tl-zoom"/>
          <p:cNvSpPr/>
          <p:nvPr/>
        </p:nvSpPr>
        <p:spPr>
          <a:xfrm>
            <a:off x="6229350" y="1685925"/>
            <a:ext cx="2514600" cy="180022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glow rad="147320">
              <a:srgbClr val="0F172A">
                <a:alpha val="6000"/>
              </a:srgbClr>
            </a:glow>
          </a:effectLst>
        </p:spPr>
      </p:sp>
      <p:sp>
        <p:nvSpPr>
          <p:cNvPr id="24" name="Shape 21"/>
          <p:cNvSpPr/>
          <p:nvPr/>
        </p:nvSpPr>
        <p:spPr>
          <a:xfrm>
            <a:off x="6236494" y="1693069"/>
            <a:ext cx="2500313" cy="42863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6379369" y="1864519"/>
            <a:ext cx="22145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ingFang SC" pitchFamily="34" charset="0"/>
              </a:rPr>
              <a:t>③ timeline.add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79369" y="2150269"/>
            <a:ext cx="2214563" cy="405631"/>
          </a:xfrm>
          <a:prstGeom prst="roundRect">
            <a:avLst>
              <a:gd name="adj" fmla="val 14089"/>
            </a:avLst>
          </a:prstGeom>
          <a:solidFill>
            <a:srgbClr val="F1F5F9"/>
          </a:solidFill>
          <a:ln/>
        </p:spPr>
      </p:sp>
      <p:sp>
        <p:nvSpPr>
          <p:cNvPr id="27" name="Text 24"/>
          <p:cNvSpPr/>
          <p:nvPr/>
        </p:nvSpPr>
        <p:spPr>
          <a:xfrm>
            <a:off x="6379369" y="2150269"/>
            <a:ext cx="2214563" cy="405631"/>
          </a:xfrm>
          <a:prstGeom prst="rect">
            <a:avLst/>
          </a:prstGeom>
          <a:noFill/>
          <a:ln/>
        </p:spPr>
        <p:txBody>
          <a:bodyPr wrap="none" lIns="73660" tIns="58928" rIns="73660" bIns="5892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.add({ targets: '#tl-b',</a:t>
            </a:r>
            <a:br/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  scale: [0, 1], duration: 600 });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379369" y="2641625"/>
            <a:ext cx="221456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Zoom · 0.6s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（对象中心）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379369" y="2861630"/>
            <a:ext cx="1001688" cy="164306"/>
          </a:xfrm>
          <a:prstGeom prst="roundRect">
            <a:avLst>
              <a:gd name="adj" fmla="val 26087"/>
            </a:avLst>
          </a:prstGeom>
          <a:solidFill>
            <a:srgbClr val="F5F3FF"/>
          </a:solidFill>
          <a:ln/>
        </p:spPr>
        <p:txBody>
          <a:bodyPr wrap="none" lIns="71438" tIns="21431" rIns="71438" bIns="21431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PingFang SC" pitchFamily="34" charset="0"/>
              </a:rPr>
              <a:t>trigger: after</a:t>
            </a:r>
            <a:r>
              <a:rPr lang="zh-CN" sz="7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</a:rPr>
              <a:t>（默认）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timeline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的每次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.add()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视为一次独立调用记录（不展开时间轴偏移）；动画窗格中三条效果按调用顺序连播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—— Fade+Spin → Fly In → Zoom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。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7C3AED"/>
          </a:solidFill>
          <a:ln/>
        </p:spPr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0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315678" cy="20002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315678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组合场景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来源优先级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14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同一元素：声明式优先于 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CSS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捕获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两个元素带</a:t>
            </a:r>
            <a:r>
              <a:rPr lang="zh-CN" sz="7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</a:rPr>
              <a:t>同一段 </a:t>
            </a:r>
            <a:r>
              <a:rPr lang="en-US" sz="700" b="1" dirty="0">
                <a:solidFill>
                  <a:srgbClr val="EA580C"/>
                </a:solidFill>
                <a:latin typeface="PingFang SC" pitchFamily="34" charset="0"/>
              </a:rPr>
              <a:t>CSS </a:t>
            </a:r>
            <a:r>
              <a:rPr lang="zh-CN" sz="7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</a:rPr>
              <a:t>飞入动画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；左卡额外声明了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data-animation ——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：左卡只有 </a:t>
            </a:r>
            <a:r>
              <a:rPr lang="en-US" sz="700" b="1" dirty="0">
                <a:solidFill>
                  <a:srgbClr val="EA580C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（声明式胜出），右卡 </a:t>
            </a:r>
            <a:r>
              <a:rPr lang="en-US" sz="700" b="1" dirty="0">
                <a:solidFill>
                  <a:srgbClr val="EA580C"/>
                </a:solidFill>
                <a:latin typeface="PingFang SC" pitchFamily="34" charset="0"/>
              </a:rPr>
              <a:t>Fade + Fly In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CSS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推断，对照组）</a:t>
            </a:r>
            <a:endParaRPr lang="en-US" sz="700" dirty="0"/>
          </a:p>
        </p:txBody>
      </p:sp>
      <p:grpSp>
        <p:nvGrpSpPr>
          <p:cNvPr id="26" name="dh-grp-mix-declared-wins"/>
          <p:cNvGrpSpPr/>
          <p:nvPr/>
        </p:nvGrpSpPr>
        <p:grpSpPr>
          <a:xfrm>
            <a:off x="685800" y="1685925"/>
            <a:ext cx="3714750" cy="1800225"/>
            <a:chOff x="0" y="0"/>
            <a:chExt cx="37147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CSS fly + </a:t>
              </a: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声明 </a:t>
              </a: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zoom</a:t>
              </a:r>
              <a:endParaRPr lang="en-US" sz="13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13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CSS: animation: cssFlyFromL 0.8s both;</a:t>
              </a:r>
              <a:br/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+ data-animation="zoom-in"</a:t>
              </a:r>
              <a:endParaRPr lang="en-US" sz="600" dirty="0"/>
            </a:p>
          </p:txBody>
        </p:sp>
        <p:sp>
          <p:nvSpPr>
            <p:cNvPr id="14" name=""/>
            <p:cNvSpPr/>
            <p:nvPr/>
          </p:nvSpPr>
          <p:spPr>
            <a:xfrm>
              <a:off x="178594" y="1005706"/>
              <a:ext cx="3357563" cy="2971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zh-CN" sz="700" b="1" dirty="0">
                  <a:solidFill>
                    <a:srgbClr val="EA580C"/>
                  </a:solidFill>
                  <a:latin typeface="PingFang SC" pitchFamily="34" charset="0"/>
                  <a:ea typeface="PingFang SC" pitchFamily="34" charset="-122"/>
                </a:rPr>
                <a:t>仅 </a:t>
              </a:r>
              <a:r>
                <a:rPr lang="en-US" sz="700" b="1" dirty="0">
                  <a:solidFill>
                    <a:srgbClr val="EA580C"/>
                  </a:solidFill>
                  <a:latin typeface="PingFang SC" pitchFamily="34" charset="0"/>
                </a:rPr>
                <a:t>Zoom · 0.6s</a:t>
              </a:r>
              <a:r>
                <a:rPr lang="zh-CN" sz="700" b="1" dirty="0">
                  <a:solidFill>
                    <a:srgbClr val="EA580C"/>
                  </a:solidFill>
                  <a:latin typeface="PingFang SC" pitchFamily="34" charset="0"/>
                  <a:ea typeface="PingFang SC" pitchFamily="34" charset="-122"/>
                </a:rPr>
                <a:t>（</a:t>
              </a:r>
              <a:r>
                <a:rPr lang="en-US" sz="700" b="1" dirty="0">
                  <a:solidFill>
                    <a:srgbClr val="EA580C"/>
                  </a:solidFill>
                  <a:latin typeface="PingFang SC" pitchFamily="34" charset="0"/>
                </a:rPr>
                <a:t>click</a:t>
              </a:r>
              <a:r>
                <a:rPr lang="zh-CN" sz="700" b="1" dirty="0">
                  <a:solidFill>
                    <a:srgbClr val="EA580C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br/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CSS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捕获被声明式覆盖</a:t>
              </a:r>
              <a:endParaRPr lang="en-US" sz="7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78594" y="1374279"/>
              <a:ext cx="1083171" cy="164306"/>
            </a:xfrm>
            <a:prstGeom prst="roundRect">
              <a:avLst>
                <a:gd name="adj" fmla="val 26087"/>
              </a:avLst>
            </a:prstGeom>
            <a:solidFill>
              <a:srgbClr val="FFF7ED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EA580C"/>
                  </a:solidFill>
                  <a:latin typeface="PingFang SC" pitchFamily="34" charset="0"/>
                </a:rPr>
                <a:t>trigger: click</a:t>
              </a:r>
              <a:r>
                <a:rPr lang="zh-CN" sz="700" b="1" dirty="0">
                  <a:solidFill>
                    <a:srgbClr val="EA580C"/>
                  </a:solidFill>
                  <a:latin typeface="PingFang SC" pitchFamily="34" charset="0"/>
                  <a:ea typeface="PingFang SC" pitchFamily="34" charset="-122"/>
                </a:rPr>
                <a:t>（声明式）</a:t>
              </a:r>
              <a:endParaRPr lang="en-US" sz="700" dirty="0"/>
            </a:p>
          </p:txBody>
        </p:sp>
      </p:grpSp>
      <p:grpSp>
        <p:nvGrpSpPr>
          <p:cNvPr id="27" name="dh-grp-mix-css-only"/>
          <p:cNvGrpSpPr/>
          <p:nvPr/>
        </p:nvGrpSpPr>
        <p:grpSpPr>
          <a:xfrm>
            <a:off x="4743450" y="1685925"/>
            <a:ext cx="3714750" cy="1800225"/>
            <a:chOff x="0" y="0"/>
            <a:chExt cx="3714750" cy="1800225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37147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7" name=""/>
            <p:cNvSpPr/>
            <p:nvPr/>
          </p:nvSpPr>
          <p:spPr>
            <a:xfrm>
              <a:off x="7144" y="7144"/>
              <a:ext cx="3700463" cy="42863"/>
            </a:xfrm>
            <a:prstGeom prst="rect">
              <a:avLst/>
            </a:prstGeom>
            <a:solidFill>
              <a:srgbClr val="64748B"/>
            </a:solidFill>
            <a:ln/>
          </p:spPr>
        </p:sp>
        <p:sp>
          <p:nvSpPr>
            <p:cNvPr id="18" name=""/>
            <p:cNvSpPr/>
            <p:nvPr/>
          </p:nvSpPr>
          <p:spPr>
            <a:xfrm>
              <a:off x="178594" y="192881"/>
              <a:ext cx="3357563" cy="235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仅 </a:t>
              </a:r>
              <a:r>
                <a:rPr lang="en-US" sz="1300" b="1" dirty="0">
                  <a:solidFill>
                    <a:srgbClr val="0F172A"/>
                  </a:solidFill>
                  <a:latin typeface="PingFang SC" pitchFamily="34" charset="0"/>
                </a:rPr>
                <a:t>CSS fly</a:t>
              </a:r>
              <a:r>
                <a:rPr lang="zh-CN" sz="1300" b="1" dirty="0">
                  <a:solidFill>
                    <a:srgbClr val="0F172A"/>
                  </a:solidFill>
                  <a:latin typeface="PingFang SC" pitchFamily="34" charset="0"/>
                  <a:ea typeface="PingFang SC" pitchFamily="34" charset="-122"/>
                </a:rPr>
                <a:t>（对照）</a:t>
              </a:r>
              <a:endParaRPr lang="en-US" sz="1300" dirty="0"/>
            </a:p>
          </p:txBody>
        </p:sp>
        <p:sp>
          <p:nvSpPr>
            <p:cNvPr id="19" name=""/>
            <p:cNvSpPr/>
            <p:nvPr/>
          </p:nvSpPr>
          <p:spPr>
            <a:xfrm>
              <a:off x="178594" y="514350"/>
              <a:ext cx="3357563" cy="405631"/>
            </a:xfrm>
            <a:prstGeom prst="roundRect">
              <a:avLst>
                <a:gd name="adj" fmla="val 14089"/>
              </a:avLst>
            </a:prstGeom>
            <a:solidFill>
              <a:srgbClr val="F1F5F9"/>
            </a:solidFill>
            <a:ln/>
          </p:spPr>
        </p:sp>
        <p:sp>
          <p:nvSpPr>
            <p:cNvPr id="20" name=""/>
            <p:cNvSpPr/>
            <p:nvPr/>
          </p:nvSpPr>
          <p:spPr>
            <a:xfrm>
              <a:off x="178594" y="514350"/>
              <a:ext cx="3357563" cy="405631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CSS: animation: cssFlyFromL 0.8s both;</a:t>
              </a:r>
              <a:br/>
              <a:r>
                <a:rPr lang="zh-CN" sz="600" dirty="0">
                  <a:solidFill>
                    <a:srgbClr val="334155"/>
                  </a:solidFill>
                  <a:latin typeface="PingFang SC" pitchFamily="34" charset="0"/>
                  <a:ea typeface="PingFang SC" pitchFamily="34" charset="-122"/>
                </a:rPr>
                <a:t>（无 </a:t>
              </a: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</a:t>
              </a:r>
              <a:r>
                <a:rPr lang="zh-CN" sz="600" dirty="0">
                  <a:solidFill>
                    <a:srgbClr val="334155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6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78594" y="1005706"/>
              <a:ext cx="3357563" cy="2971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EA580C"/>
                  </a:solidFill>
                  <a:latin typeface="PingFang SC" pitchFamily="34" charset="0"/>
                </a:rPr>
                <a:t>Fade + Fly In · From Left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并行</a:t>
              </a:r>
              <a:br/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CSS 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推断结果</a:t>
              </a:r>
              <a:endParaRPr lang="en-US" sz="700" dirty="0"/>
            </a:p>
          </p:txBody>
        </p:sp>
        <p:sp>
          <p:nvSpPr>
            <p:cNvPr id="22" name=""/>
            <p:cNvSpPr/>
            <p:nvPr/>
          </p:nvSpPr>
          <p:spPr>
            <a:xfrm>
              <a:off x="178594" y="1374279"/>
              <a:ext cx="1001688" cy="164306"/>
            </a:xfrm>
            <a:prstGeom prst="roundRect">
              <a:avLst>
                <a:gd name="adj" fmla="val 26087"/>
              </a:avLst>
            </a:prstGeom>
            <a:solidFill>
              <a:srgbClr val="FFF7ED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EA580C"/>
                  </a:solidFill>
                  <a:latin typeface="PingFang SC" pitchFamily="34" charset="0"/>
                </a:rPr>
                <a:t>trigger: after</a:t>
              </a:r>
              <a:r>
                <a:rPr lang="zh-CN" sz="700" b="1" dirty="0">
                  <a:solidFill>
                    <a:srgbClr val="EA580C"/>
                  </a:solidFill>
                  <a:latin typeface="PingFang SC" pitchFamily="34" charset="0"/>
                  <a:ea typeface="PingFang SC" pitchFamily="34" charset="-122"/>
                </a:rPr>
                <a:t>（默认）</a:t>
              </a:r>
              <a:endParaRPr lang="en-US" sz="700" dirty="0"/>
            </a:p>
          </p:txBody>
        </p:sp>
      </p:grpSp>
      <p:sp>
        <p:nvSpPr>
          <p:cNvPr id="23" name="Shape 20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左卡在动画窗格中只有一条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click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触发、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0.6s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），不应出现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Fly/Fade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；右卡为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Fade+Fly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并行（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after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、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0.8s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）。验证「显式声明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wins over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环境动画」的覆盖规则。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EA580C"/>
          </a:solidFill>
          <a:ln/>
        </p:spPr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0243A"/>
              </a:gs>
              <a:gs pos="100000">
                <a:srgbClr val="16355C"/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42938" y="342900"/>
            <a:ext cx="628650" cy="200025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342900"/>
            <a:ext cx="628650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10243A"/>
                </a:solidFill>
                <a:latin typeface="PingFang SC" pitchFamily="34" charset="0"/>
                <a:ea typeface="PingFang SC" pitchFamily="34" charset="-122"/>
              </a:rPr>
              <a:t>综合演示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205155" y="378619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FB3C8"/>
                </a:solidFill>
                <a:latin typeface="PingFang SC" pitchFamily="34" charset="0"/>
              </a:rPr>
              <a:t>15 / 19</a:t>
            </a:r>
            <a:endParaRPr lang="en-US" sz="700" dirty="0"/>
          </a:p>
        </p:txBody>
      </p:sp>
      <p:sp>
        <p:nvSpPr>
          <p:cNvPr id="7" name="dh-grp-deck-title"/>
          <p:cNvSpPr/>
          <p:nvPr/>
        </p:nvSpPr>
        <p:spPr>
          <a:xfrm>
            <a:off x="642938" y="742950"/>
            <a:ext cx="2228850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季度业务回顾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2938" y="1300163"/>
            <a:ext cx="543806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真实排版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+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混合触发：标题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click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淡入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→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卡片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with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同播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→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徽章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after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接上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→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脚注 </a:t>
            </a:r>
            <a:r>
              <a:rPr lang="en-US" sz="1000" dirty="0">
                <a:solidFill>
                  <a:srgbClr val="9FB3C8"/>
                </a:solidFill>
                <a:latin typeface="PingFang SC" pitchFamily="34" charset="0"/>
              </a:rPr>
              <a:t>click </a:t>
            </a:r>
            <a:r>
              <a:rPr lang="zh-CN" sz="10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旋转</a:t>
            </a:r>
            <a:endParaRPr lang="en-US" sz="1000" dirty="0"/>
          </a:p>
        </p:txBody>
      </p:sp>
      <p:grpSp>
        <p:nvGrpSpPr>
          <p:cNvPr id="18" name="dh-grp-deck-card"/>
          <p:cNvGrpSpPr/>
          <p:nvPr/>
        </p:nvGrpSpPr>
        <p:grpSpPr>
          <a:xfrm>
            <a:off x="642938" y="2000250"/>
            <a:ext cx="3571875" cy="1357313"/>
            <a:chOff x="0" y="0"/>
            <a:chExt cx="3571875" cy="1357313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3571875" cy="1357313"/>
            </a:xfrm>
            <a:prstGeom prst="roundRect">
              <a:avLst>
                <a:gd name="adj" fmla="val 8421"/>
              </a:avLst>
            </a:prstGeom>
            <a:solidFill>
              <a:srgbClr val="2F7CF6"/>
            </a:solidFill>
            <a:ln/>
            <a:effectLst>
              <a:glow rad="235712">
                <a:srgbClr val="000000">
                  <a:alpha val="35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214312" y="185738"/>
              <a:ext cx="314325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zh-CN" sz="1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</a:rPr>
                <a:t>营收增长 </a:t>
              </a:r>
              <a:r>
                <a:rPr lang="en-US" sz="1500" b="1" dirty="0">
                  <a:solidFill>
                    <a:srgbClr val="FFFFFF"/>
                  </a:solidFill>
                  <a:latin typeface="PingFang SC" pitchFamily="34" charset="0"/>
                </a:rPr>
                <a:t>27%</a:t>
              </a:r>
              <a:endParaRPr lang="en-US" sz="1500" dirty="0"/>
            </a:p>
          </p:txBody>
        </p:sp>
        <p:sp>
          <p:nvSpPr>
            <p:cNvPr id="11" name=""/>
            <p:cNvSpPr/>
            <p:nvPr/>
          </p:nvSpPr>
          <p:spPr>
            <a:xfrm>
              <a:off x="214312" y="542925"/>
              <a:ext cx="3143250" cy="3656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zh-CN" sz="900" dirty="0">
                  <a:solidFill>
                    <a:srgbClr val="DBEAFE"/>
                  </a:solidFill>
                  <a:latin typeface="PingFang SC" pitchFamily="34" charset="0"/>
                  <a:ea typeface="PingFang SC" pitchFamily="34" charset="-122"/>
                </a:rPr>
                <a:t>华东、华南两大区域贡献主要增量；本卡片与标题「同时」播放（</a:t>
              </a:r>
              <a:r>
                <a:rPr lang="en-US" sz="900" dirty="0">
                  <a:solidFill>
                    <a:srgbClr val="DBEAFE"/>
                  </a:solidFill>
                  <a:latin typeface="PingFang SC" pitchFamily="34" charset="0"/>
                </a:rPr>
                <a:t>fly-in-left · with</a:t>
              </a:r>
              <a:r>
                <a:rPr lang="zh-CN" sz="900" dirty="0">
                  <a:solidFill>
                    <a:srgbClr val="DBEAFE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900" dirty="0"/>
            </a:p>
          </p:txBody>
        </p:sp>
      </p:grpSp>
      <p:sp>
        <p:nvSpPr>
          <p:cNvPr id="12" name="dh-grp-deck-badge"/>
          <p:cNvSpPr/>
          <p:nvPr/>
        </p:nvSpPr>
        <p:spPr>
          <a:xfrm>
            <a:off x="4857750" y="2143125"/>
            <a:ext cx="1714500" cy="785813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  <a:effectLst>
            <a:glow rad="235712">
              <a:srgbClr val="000000">
                <a:alpha val="35000"/>
              </a:srgbClr>
            </a:glow>
          </a:effectLst>
        </p:spPr>
      </p:sp>
      <p:sp>
        <p:nvSpPr>
          <p:cNvPr id="13" name="dh-grp-deck-badge"/>
          <p:cNvSpPr/>
          <p:nvPr/>
        </p:nvSpPr>
        <p:spPr>
          <a:xfrm>
            <a:off x="4857750" y="2143125"/>
            <a:ext cx="171450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PingFang SC" pitchFamily="34" charset="0"/>
              </a:rPr>
              <a:t>TOP 1 </a:t>
            </a:r>
            <a:r>
              <a:rPr lang="zh-CN" sz="1300" b="1" dirty="0">
                <a:solidFill>
                  <a:srgbClr val="10243A"/>
                </a:solidFill>
                <a:latin typeface="PingFang SC" pitchFamily="34" charset="0"/>
                <a:ea typeface="PingFang SC" pitchFamily="34" charset="-122"/>
              </a:rPr>
              <a:t>产品</a:t>
            </a:r>
            <a:endParaRPr lang="en-US" sz="1300" dirty="0"/>
          </a:p>
        </p:txBody>
      </p:sp>
      <p:sp>
        <p:nvSpPr>
          <p:cNvPr id="14" name="dh-grp-deck-footnote"/>
          <p:cNvSpPr/>
          <p:nvPr/>
        </p:nvSpPr>
        <p:spPr>
          <a:xfrm>
            <a:off x="642938" y="4000500"/>
            <a:ext cx="364822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1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数据口径：</a:t>
            </a:r>
            <a:r>
              <a:rPr lang="en-US" sz="1100" dirty="0">
                <a:solidFill>
                  <a:srgbClr val="9FB3C8"/>
                </a:solidFill>
                <a:latin typeface="PingFang SC" pitchFamily="34" charset="0"/>
              </a:rPr>
              <a:t>2026 H1 · </a:t>
            </a:r>
            <a:r>
              <a:rPr lang="zh-CN" sz="11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财务部（脚注：</a:t>
            </a:r>
            <a:r>
              <a:rPr lang="en-US" sz="1100" dirty="0">
                <a:solidFill>
                  <a:srgbClr val="9FB3C8"/>
                </a:solidFill>
                <a:latin typeface="PingFang SC" pitchFamily="34" charset="0"/>
              </a:rPr>
              <a:t>spin-half · click</a:t>
            </a:r>
            <a:r>
              <a:rPr lang="zh-CN" sz="1100" dirty="0">
                <a:solidFill>
                  <a:srgbClr val="9FB3C8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2938" y="4427786"/>
            <a:ext cx="7858125" cy="501402"/>
          </a:xfrm>
          <a:prstGeom prst="roundRect">
            <a:avLst>
              <a:gd name="adj" fmla="val 1424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2938" y="4427786"/>
            <a:ext cx="7858125" cy="501402"/>
          </a:xfrm>
          <a:prstGeom prst="rect">
            <a:avLst/>
          </a:prstGeom>
          <a:noFill/>
          <a:ln/>
        </p:spPr>
        <p:txBody>
          <a:bodyPr wrap="squar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放映时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—— 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单击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1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：标题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Fade 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与卡片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Fly In 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同时播放；随后徽章自动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Zoom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；单击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2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：脚注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Spin 180°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。动画窗格共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条效果，触发方式依次为 </a:t>
            </a:r>
            <a:r>
              <a:rPr lang="en-US" sz="700" dirty="0">
                <a:solidFill>
                  <a:srgbClr val="CBD5E1"/>
                </a:solidFill>
                <a:latin typeface="PingFang SC" pitchFamily="34" charset="0"/>
              </a:rPr>
              <a:t>click / with / after / click</a:t>
            </a:r>
            <a:r>
              <a:rPr lang="zh-CN" sz="7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</a:rPr>
              <a:t>。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642938" y="4427786"/>
            <a:ext cx="28575" cy="501402"/>
          </a:xfrm>
          <a:custGeom>
            <a:pathLst>
              <a:path w="21600" h="21600">
                <a:moveTo>
                  <a:pt x="21600" y="615"/>
                </a:moveTo>
                <a:cubicBezTo>
                  <a:pt x="8002" y="1197"/>
                  <a:pt x="0" y="2109"/>
                  <a:pt x="0" y="3077"/>
                </a:cubicBezTo>
                <a:lnTo>
                  <a:pt x="0" y="18523"/>
                </a:lnTo>
                <a:cubicBezTo>
                  <a:pt x="0" y="19491"/>
                  <a:pt x="8002" y="20403"/>
                  <a:pt x="21600" y="20985"/>
                </a:cubicBezTo>
                <a:lnTo>
                  <a:pt x="21600" y="20000"/>
                </a:lnTo>
                <a:cubicBezTo>
                  <a:pt x="21600" y="19651"/>
                  <a:pt x="21600" y="19104"/>
                  <a:pt x="21600" y="18523"/>
                </a:cubicBezTo>
                <a:lnTo>
                  <a:pt x="21600" y="3077"/>
                </a:lnTo>
                <a:cubicBezTo>
                  <a:pt x="21600" y="2496"/>
                  <a:pt x="21600" y="1949"/>
                  <a:pt x="21600" y="1600"/>
                </a:cubicBezTo>
                <a:lnTo>
                  <a:pt x="21600" y="615"/>
                </a:lnTo>
                <a:close/>
              </a:path>
            </a:pathLst>
          </a:custGeom>
          <a:solidFill>
            <a:srgbClr val="FFB02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gallery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2113545" cy="2000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2113545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边界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降级路径（预期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UNMAPPED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16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声明式：退出动画与未知效果名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预期：两个元素均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不产生 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PPTX 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动画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，保持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静态终态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；诊断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/ --report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中出现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条 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DECKHTML_ANIMATION_UNMAPPED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9" name="dh-grp-unmapped-exit"/>
          <p:cNvSpPr/>
          <p:nvPr/>
        </p:nvSpPr>
        <p:spPr>
          <a:xfrm>
            <a:off x="685800" y="1685925"/>
            <a:ext cx="3714750" cy="180022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  <a:effectLst>
            <a:glow rad="147320">
              <a:srgbClr val="0F172A">
                <a:alpha val="6000"/>
              </a:srgbClr>
            </a:glow>
          </a:effectLst>
        </p:spPr>
      </p:sp>
      <p:sp>
        <p:nvSpPr>
          <p:cNvPr id="10" name="dh-grp-unmapped-exit"/>
          <p:cNvSpPr/>
          <p:nvPr/>
        </p:nvSpPr>
        <p:spPr>
          <a:xfrm>
            <a:off x="692944" y="1693069"/>
            <a:ext cx="3700463" cy="42863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dh-grp-unmapped-exit"/>
          <p:cNvSpPr/>
          <p:nvPr/>
        </p:nvSpPr>
        <p:spPr>
          <a:xfrm>
            <a:off x="864394" y="1878806"/>
            <a:ext cx="33575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</a:rPr>
              <a:t>fade-out</a:t>
            </a: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（退出动画）</a:t>
            </a:r>
            <a:endParaRPr lang="en-US" sz="1300" dirty="0"/>
          </a:p>
        </p:txBody>
      </p:sp>
      <p:sp>
        <p:nvSpPr>
          <p:cNvPr id="12" name="dh-grp-unmapped-exit"/>
          <p:cNvSpPr/>
          <p:nvPr/>
        </p:nvSpPr>
        <p:spPr>
          <a:xfrm>
            <a:off x="864394" y="2200275"/>
            <a:ext cx="3357563" cy="259966"/>
          </a:xfrm>
          <a:prstGeom prst="roundRect">
            <a:avLst>
              <a:gd name="adj" fmla="val 21984"/>
            </a:avLst>
          </a:prstGeom>
          <a:solidFill>
            <a:srgbClr val="FEF2F2"/>
          </a:solidFill>
          <a:ln/>
        </p:spPr>
      </p:sp>
      <p:sp>
        <p:nvSpPr>
          <p:cNvPr id="13" name="dh-grp-unmapped-exit"/>
          <p:cNvSpPr/>
          <p:nvPr/>
        </p:nvSpPr>
        <p:spPr>
          <a:xfrm>
            <a:off x="864394" y="2200275"/>
            <a:ext cx="3357563" cy="259966"/>
          </a:xfrm>
          <a:prstGeom prst="rect">
            <a:avLst/>
          </a:prstGeom>
          <a:noFill/>
          <a:ln/>
        </p:spPr>
        <p:txBody>
          <a:bodyPr wrap="none" lIns="73660" tIns="58928" rIns="73660" bIns="5892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data-animation="fade-out"</a:t>
            </a:r>
            <a:endParaRPr lang="en-US" sz="600" dirty="0"/>
          </a:p>
        </p:txBody>
      </p:sp>
      <p:sp>
        <p:nvSpPr>
          <p:cNvPr id="14" name="dh-grp-unmapped-exit"/>
          <p:cNvSpPr/>
          <p:nvPr/>
        </p:nvSpPr>
        <p:spPr>
          <a:xfrm>
            <a:off x="864394" y="2545966"/>
            <a:ext cx="3357563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警告原因：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exit animations are not supported yet</a:t>
            </a:r>
            <a:br/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元素静态显示（可见终态）</a:t>
            </a:r>
            <a:endParaRPr lang="en-US" sz="700" dirty="0"/>
          </a:p>
        </p:txBody>
      </p:sp>
      <p:sp>
        <p:nvSpPr>
          <p:cNvPr id="15" name="dh-grp-unmapped-exit"/>
          <p:cNvSpPr/>
          <p:nvPr/>
        </p:nvSpPr>
        <p:spPr>
          <a:xfrm>
            <a:off x="864394" y="2914538"/>
            <a:ext cx="1047564" cy="178594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</p:spPr>
        <p:txBody>
          <a:bodyPr wrap="none" lIns="78581" tIns="28575" rIns="78581" bIns="28575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b="1" dirty="0">
                <a:solidFill>
                  <a:srgbClr val="B91C1C"/>
                </a:solidFill>
                <a:latin typeface="PingFang SC" pitchFamily="34" charset="0"/>
              </a:rPr>
              <a:t>UNMAPPED </a:t>
            </a: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16" name="dh-grp-unmapped-unknown"/>
          <p:cNvSpPr/>
          <p:nvPr/>
        </p:nvSpPr>
        <p:spPr>
          <a:xfrm>
            <a:off x="4743450" y="1685925"/>
            <a:ext cx="3714750" cy="180022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  <a:effectLst>
            <a:glow rad="147320">
              <a:srgbClr val="0F172A">
                <a:alpha val="6000"/>
              </a:srgbClr>
            </a:glow>
          </a:effectLst>
        </p:spPr>
      </p:sp>
      <p:sp>
        <p:nvSpPr>
          <p:cNvPr id="17" name="dh-grp-unmapped-unknown"/>
          <p:cNvSpPr/>
          <p:nvPr/>
        </p:nvSpPr>
        <p:spPr>
          <a:xfrm>
            <a:off x="4750594" y="1693069"/>
            <a:ext cx="3700463" cy="4286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dh-grp-unmapped-unknown"/>
          <p:cNvSpPr/>
          <p:nvPr/>
        </p:nvSpPr>
        <p:spPr>
          <a:xfrm>
            <a:off x="4922044" y="1878806"/>
            <a:ext cx="33575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</a:rPr>
              <a:t>bounce</a:t>
            </a: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（未知名称）</a:t>
            </a:r>
            <a:endParaRPr lang="en-US" sz="1300" dirty="0"/>
          </a:p>
        </p:txBody>
      </p:sp>
      <p:sp>
        <p:nvSpPr>
          <p:cNvPr id="19" name="dh-grp-unmapped-unknown"/>
          <p:cNvSpPr/>
          <p:nvPr/>
        </p:nvSpPr>
        <p:spPr>
          <a:xfrm>
            <a:off x="4922044" y="2200275"/>
            <a:ext cx="3357563" cy="259966"/>
          </a:xfrm>
          <a:prstGeom prst="roundRect">
            <a:avLst>
              <a:gd name="adj" fmla="val 21984"/>
            </a:avLst>
          </a:prstGeom>
          <a:solidFill>
            <a:srgbClr val="FEF2F2"/>
          </a:solidFill>
          <a:ln/>
        </p:spPr>
      </p:sp>
      <p:sp>
        <p:nvSpPr>
          <p:cNvPr id="20" name="dh-grp-unmapped-unknown"/>
          <p:cNvSpPr/>
          <p:nvPr/>
        </p:nvSpPr>
        <p:spPr>
          <a:xfrm>
            <a:off x="4922044" y="2200275"/>
            <a:ext cx="3357563" cy="259966"/>
          </a:xfrm>
          <a:prstGeom prst="rect">
            <a:avLst/>
          </a:prstGeom>
          <a:noFill/>
          <a:ln/>
        </p:spPr>
        <p:txBody>
          <a:bodyPr wrap="none" lIns="73660" tIns="58928" rIns="73660" bIns="5892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data-animation="bounce"</a:t>
            </a:r>
            <a:endParaRPr lang="en-US" sz="600" dirty="0"/>
          </a:p>
        </p:txBody>
      </p:sp>
      <p:sp>
        <p:nvSpPr>
          <p:cNvPr id="21" name="dh-grp-unmapped-unknown"/>
          <p:cNvSpPr/>
          <p:nvPr/>
        </p:nvSpPr>
        <p:spPr>
          <a:xfrm>
            <a:off x="4922044" y="2545966"/>
            <a:ext cx="3357563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警告原因：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unknown effect "bounce"</a:t>
            </a:r>
            <a:br/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元素静态显示（可见终态）</a:t>
            </a:r>
            <a:endParaRPr lang="en-US" sz="700" dirty="0"/>
          </a:p>
        </p:txBody>
      </p:sp>
      <p:sp>
        <p:nvSpPr>
          <p:cNvPr id="22" name="dh-grp-unmapped-unknown"/>
          <p:cNvSpPr/>
          <p:nvPr/>
        </p:nvSpPr>
        <p:spPr>
          <a:xfrm>
            <a:off x="4922044" y="2914538"/>
            <a:ext cx="1047564" cy="178594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</p:spPr>
        <p:txBody>
          <a:bodyPr wrap="none" lIns="78581" tIns="28575" rIns="78581" bIns="28575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b="1" dirty="0">
                <a:solidFill>
                  <a:srgbClr val="B91C1C"/>
                </a:solidFill>
                <a:latin typeface="PingFang SC" pitchFamily="34" charset="0"/>
              </a:rPr>
              <a:t>UNMAPPED </a:t>
            </a: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00050" y="4470648"/>
            <a:ext cx="8343900" cy="501402"/>
          </a:xfrm>
          <a:prstGeom prst="roundRect">
            <a:avLst>
              <a:gd name="adj" fmla="val 14248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470648"/>
            <a:ext cx="8343900" cy="501402"/>
          </a:xfrm>
          <a:prstGeom prst="rect">
            <a:avLst/>
          </a:prstGeom>
          <a:noFill/>
          <a:ln/>
        </p:spPr>
        <p:txBody>
          <a:bodyPr wrap="squar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转换不中断（非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strict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模式仅警告）；动画窗格中本页</a:t>
            </a: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无动画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；两元素在幻灯片上静态可见；报告中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条警告且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recovery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建议使用受支持的进入效果名。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strict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模式下默认会硬性失败（可用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strict.allowUnmappedAnimations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放宽）。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470648"/>
            <a:ext cx="28575" cy="501402"/>
          </a:xfrm>
          <a:custGeom>
            <a:pathLst>
              <a:path w="21600" h="21600">
                <a:moveTo>
                  <a:pt x="21600" y="615"/>
                </a:moveTo>
                <a:cubicBezTo>
                  <a:pt x="8002" y="1197"/>
                  <a:pt x="0" y="2109"/>
                  <a:pt x="0" y="3077"/>
                </a:cubicBezTo>
                <a:lnTo>
                  <a:pt x="0" y="18523"/>
                </a:lnTo>
                <a:cubicBezTo>
                  <a:pt x="0" y="19491"/>
                  <a:pt x="8002" y="20403"/>
                  <a:pt x="21600" y="20985"/>
                </a:cubicBezTo>
                <a:lnTo>
                  <a:pt x="21600" y="20000"/>
                </a:lnTo>
                <a:cubicBezTo>
                  <a:pt x="21600" y="19651"/>
                  <a:pt x="21600" y="19104"/>
                  <a:pt x="21600" y="18523"/>
                </a:cubicBezTo>
                <a:lnTo>
                  <a:pt x="21600" y="3077"/>
                </a:lnTo>
                <a:cubicBezTo>
                  <a:pt x="21600" y="2496"/>
                  <a:pt x="21600" y="1949"/>
                  <a:pt x="21600" y="1600"/>
                </a:cubicBezTo>
                <a:lnTo>
                  <a:pt x="21600" y="615"/>
                </a:lnTo>
                <a:close/>
              </a:path>
            </a:pathLst>
          </a:custGeom>
          <a:solidFill>
            <a:srgbClr val="DC2626"/>
          </a:solidFill>
          <a:ln/>
        </p:spPr>
      </p:sp>
    </p:spTree>
  </p:cSld>
  <p:clrMapOvr>
    <a:masterClrMapping/>
  </p:clrMapOvr>
  <p:transition spd="med">
    <p:comb dir="horz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2113545" cy="2000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2113545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边界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降级路径（预期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UNMAPPED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52396" y="292894"/>
            <a:ext cx="2915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17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CSS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：无限循环与复合变换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预期：两个元素均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不产生 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PPTX 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动画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，保持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静态终态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；诊断中出现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条 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DECKHTML_ANIMATION_UNMAPPED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警告（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HTML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页面内的动效仅存在于浏览器，不进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700" dirty="0"/>
          </a:p>
        </p:txBody>
      </p:sp>
      <p:sp>
        <p:nvSpPr>
          <p:cNvPr id="9" name="dh-grp-unmapped-infinite"/>
          <p:cNvSpPr/>
          <p:nvPr/>
        </p:nvSpPr>
        <p:spPr>
          <a:xfrm>
            <a:off x="685800" y="1685925"/>
            <a:ext cx="3714750" cy="180022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  <a:effectLst>
            <a:glow rad="147320">
              <a:srgbClr val="0F172A">
                <a:alpha val="6000"/>
              </a:srgbClr>
            </a:glow>
          </a:effectLst>
        </p:spPr>
      </p:sp>
      <p:sp>
        <p:nvSpPr>
          <p:cNvPr id="10" name="dh-grp-unmapped-infinite"/>
          <p:cNvSpPr/>
          <p:nvPr/>
        </p:nvSpPr>
        <p:spPr>
          <a:xfrm>
            <a:off x="692944" y="1693069"/>
            <a:ext cx="3700463" cy="42863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dh-grp-unmapped-infinite"/>
          <p:cNvSpPr/>
          <p:nvPr/>
        </p:nvSpPr>
        <p:spPr>
          <a:xfrm>
            <a:off x="864394" y="1878806"/>
            <a:ext cx="33575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</a:rPr>
              <a:t>infinite </a:t>
            </a: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脉冲循环</a:t>
            </a:r>
            <a:endParaRPr lang="en-US" sz="1300" dirty="0"/>
          </a:p>
        </p:txBody>
      </p:sp>
      <p:sp>
        <p:nvSpPr>
          <p:cNvPr id="12" name="dh-grp-unmapped-infinite"/>
          <p:cNvSpPr/>
          <p:nvPr/>
        </p:nvSpPr>
        <p:spPr>
          <a:xfrm>
            <a:off x="864394" y="2200275"/>
            <a:ext cx="3357563" cy="405631"/>
          </a:xfrm>
          <a:prstGeom prst="roundRect">
            <a:avLst>
              <a:gd name="adj" fmla="val 14089"/>
            </a:avLst>
          </a:prstGeom>
          <a:solidFill>
            <a:srgbClr val="FEF2F2"/>
          </a:solidFill>
          <a:ln/>
        </p:spPr>
      </p:sp>
      <p:sp>
        <p:nvSpPr>
          <p:cNvPr id="13" name="dh-grp-unmapped-infinite"/>
          <p:cNvSpPr/>
          <p:nvPr/>
        </p:nvSpPr>
        <p:spPr>
          <a:xfrm>
            <a:off x="864394" y="2200275"/>
            <a:ext cx="3357563" cy="405631"/>
          </a:xfrm>
          <a:prstGeom prst="rect">
            <a:avLst/>
          </a:prstGeom>
          <a:noFill/>
          <a:ln/>
        </p:spPr>
        <p:txBody>
          <a:bodyPr wrap="none" lIns="73660" tIns="58928" rIns="73660" bIns="5892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animation: cssPulse 1.2s ease-in-out infinite;</a:t>
            </a:r>
            <a:br/>
            <a:r>
              <a:rPr lang="zh-CN" sz="6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iteration-count: infinite</a:t>
            </a:r>
            <a:r>
              <a:rPr lang="zh-CN" sz="6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600" dirty="0"/>
          </a:p>
        </p:txBody>
      </p:sp>
      <p:sp>
        <p:nvSpPr>
          <p:cNvPr id="14" name="dh-grp-unmapped-infinite"/>
          <p:cNvSpPr/>
          <p:nvPr/>
        </p:nvSpPr>
        <p:spPr>
          <a:xfrm>
            <a:off x="864394" y="2691631"/>
            <a:ext cx="3357563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警告原因：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infinite-loop 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属于强调效果，暂不支持</a:t>
            </a:r>
            <a:br/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元素静态显示</a:t>
            </a:r>
            <a:endParaRPr lang="en-US" sz="700" dirty="0"/>
          </a:p>
        </p:txBody>
      </p:sp>
      <p:sp>
        <p:nvSpPr>
          <p:cNvPr id="15" name="dh-grp-unmapped-infinite"/>
          <p:cNvSpPr/>
          <p:nvPr/>
        </p:nvSpPr>
        <p:spPr>
          <a:xfrm>
            <a:off x="864394" y="3060204"/>
            <a:ext cx="1047564" cy="178594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</p:spPr>
        <p:txBody>
          <a:bodyPr wrap="none" lIns="78581" tIns="28575" rIns="78581" bIns="28575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b="1" dirty="0">
                <a:solidFill>
                  <a:srgbClr val="B91C1C"/>
                </a:solidFill>
                <a:latin typeface="PingFang SC" pitchFamily="34" charset="0"/>
              </a:rPr>
              <a:t>UNMAPPED </a:t>
            </a: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16" name="dh-grp-unmapped-compound"/>
          <p:cNvSpPr/>
          <p:nvPr/>
        </p:nvSpPr>
        <p:spPr>
          <a:xfrm>
            <a:off x="4743450" y="1685925"/>
            <a:ext cx="3714750" cy="180022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  <a:effectLst>
            <a:glow rad="147320">
              <a:srgbClr val="0F172A">
                <a:alpha val="6000"/>
              </a:srgbClr>
            </a:glow>
          </a:effectLst>
        </p:spPr>
      </p:sp>
      <p:sp>
        <p:nvSpPr>
          <p:cNvPr id="17" name="dh-grp-unmapped-compound"/>
          <p:cNvSpPr/>
          <p:nvPr/>
        </p:nvSpPr>
        <p:spPr>
          <a:xfrm>
            <a:off x="4750594" y="1693069"/>
            <a:ext cx="3700463" cy="4286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dh-grp-unmapped-compound"/>
          <p:cNvSpPr/>
          <p:nvPr/>
        </p:nvSpPr>
        <p:spPr>
          <a:xfrm>
            <a:off x="4922044" y="1878806"/>
            <a:ext cx="33575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位移 </a:t>
            </a: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</a:rPr>
              <a:t>+ </a:t>
            </a: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缩放复合</a:t>
            </a:r>
            <a:endParaRPr lang="en-US" sz="1300" dirty="0"/>
          </a:p>
        </p:txBody>
      </p:sp>
      <p:sp>
        <p:nvSpPr>
          <p:cNvPr id="19" name="dh-grp-unmapped-compound"/>
          <p:cNvSpPr/>
          <p:nvPr/>
        </p:nvSpPr>
        <p:spPr>
          <a:xfrm>
            <a:off x="4922044" y="2200275"/>
            <a:ext cx="3357563" cy="405631"/>
          </a:xfrm>
          <a:prstGeom prst="roundRect">
            <a:avLst>
              <a:gd name="adj" fmla="val 14089"/>
            </a:avLst>
          </a:prstGeom>
          <a:solidFill>
            <a:srgbClr val="FEF2F2"/>
          </a:solidFill>
          <a:ln/>
        </p:spPr>
      </p:sp>
      <p:sp>
        <p:nvSpPr>
          <p:cNvPr id="20" name="dh-grp-unmapped-compound"/>
          <p:cNvSpPr/>
          <p:nvPr/>
        </p:nvSpPr>
        <p:spPr>
          <a:xfrm>
            <a:off x="4922044" y="2200275"/>
            <a:ext cx="3357563" cy="405631"/>
          </a:xfrm>
          <a:prstGeom prst="rect">
            <a:avLst/>
          </a:prstGeom>
          <a:noFill/>
          <a:ln/>
        </p:spPr>
        <p:txBody>
          <a:bodyPr wrap="none" lIns="73660" tIns="58928" rIns="73660" bIns="5892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from { transform: translateX(-200px) scale(0.5); }</a:t>
            </a:r>
            <a:br/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to   { transform: translateX(0) scale(1); }</a:t>
            </a:r>
            <a:endParaRPr lang="en-US" sz="600" dirty="0"/>
          </a:p>
        </p:txBody>
      </p:sp>
      <p:sp>
        <p:nvSpPr>
          <p:cNvPr id="21" name="dh-grp-unmapped-compound"/>
          <p:cNvSpPr/>
          <p:nvPr/>
        </p:nvSpPr>
        <p:spPr>
          <a:xfrm>
            <a:off x="4922044" y="2691631"/>
            <a:ext cx="3357563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警告原因：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compound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motion+scale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）暂不支持</a:t>
            </a:r>
            <a:br/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元素静态显示</a:t>
            </a:r>
            <a:endParaRPr lang="en-US" sz="700" dirty="0"/>
          </a:p>
        </p:txBody>
      </p:sp>
      <p:sp>
        <p:nvSpPr>
          <p:cNvPr id="22" name="dh-grp-unmapped-compound"/>
          <p:cNvSpPr/>
          <p:nvPr/>
        </p:nvSpPr>
        <p:spPr>
          <a:xfrm>
            <a:off x="4922044" y="3060204"/>
            <a:ext cx="1047564" cy="178594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</p:spPr>
        <p:txBody>
          <a:bodyPr wrap="none" lIns="78581" tIns="28575" rIns="78581" bIns="28575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b="1" dirty="0">
                <a:solidFill>
                  <a:srgbClr val="B91C1C"/>
                </a:solidFill>
                <a:latin typeface="PingFang SC" pitchFamily="34" charset="0"/>
              </a:rPr>
              <a:t>UNMAPPED </a:t>
            </a: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动画窗格中本页</a:t>
            </a: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无动画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；两元素静态可见（终态）；报告中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条警告分别注明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infinite-loop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与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compound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原因。允许的复合只有「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fade +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单轴位移」（见第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11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页）。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DC2626"/>
          </a:solidFill>
          <a:ln/>
        </p:spPr>
      </p:sp>
    </p:spTree>
  </p:cSld>
  <p:clrMapOvr>
    <a:masterClrMapping/>
  </p:clrMapOvr>
  <p:transition spd="med">
    <p:split orient="horz"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2113545" cy="2000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2113545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边界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降级路径（预期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UNMAPPED</a:t>
            </a: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）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18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anime.js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：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stagger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延迟与复合变换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预期：两组调用均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不产生 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PPTX 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动画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，元素保持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静态终态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；诊断中出现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条 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DECKHTML_ANIMATION_UNMAPPED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9" name="unmapped-stagger"/>
          <p:cNvSpPr/>
          <p:nvPr/>
        </p:nvSpPr>
        <p:spPr>
          <a:xfrm>
            <a:off x="685800" y="1685925"/>
            <a:ext cx="3714750" cy="180022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  <a:effectLst>
            <a:glow rad="147320">
              <a:srgbClr val="0F172A">
                <a:alpha val="6000"/>
              </a:srgbClr>
            </a:glow>
          </a:effectLst>
        </p:spPr>
      </p:sp>
      <p:sp>
        <p:nvSpPr>
          <p:cNvPr id="10" name="Shape 7"/>
          <p:cNvSpPr/>
          <p:nvPr/>
        </p:nvSpPr>
        <p:spPr>
          <a:xfrm>
            <a:off x="692944" y="1693069"/>
            <a:ext cx="3700463" cy="42863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864394" y="1878806"/>
            <a:ext cx="101798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</a:rPr>
              <a:t>stagger </a:t>
            </a: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延迟</a:t>
            </a:r>
            <a:endParaRPr lang="en-US" sz="1300" dirty="0"/>
          </a:p>
        </p:txBody>
      </p:sp>
      <p:sp>
        <p:nvSpPr>
          <p:cNvPr id="12" name="dh-grp-dh-animroot-1"/>
          <p:cNvSpPr/>
          <p:nvPr/>
        </p:nvSpPr>
        <p:spPr>
          <a:xfrm>
            <a:off x="864394" y="2198824"/>
            <a:ext cx="242888" cy="242888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/>
        </p:spPr>
      </p:sp>
      <p:sp>
        <p:nvSpPr>
          <p:cNvPr id="13" name="dh-grp-dh-animroot-2"/>
          <p:cNvSpPr/>
          <p:nvPr/>
        </p:nvSpPr>
        <p:spPr>
          <a:xfrm>
            <a:off x="1178719" y="2198824"/>
            <a:ext cx="242888" cy="242888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/>
        </p:spPr>
      </p:sp>
      <p:sp>
        <p:nvSpPr>
          <p:cNvPr id="14" name="dh-grp-dh-animroot-3"/>
          <p:cNvSpPr/>
          <p:nvPr/>
        </p:nvSpPr>
        <p:spPr>
          <a:xfrm>
            <a:off x="1493044" y="2198824"/>
            <a:ext cx="242888" cy="242888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/>
        </p:spPr>
      </p:sp>
      <p:sp>
        <p:nvSpPr>
          <p:cNvPr id="15" name="Shape 12"/>
          <p:cNvSpPr/>
          <p:nvPr/>
        </p:nvSpPr>
        <p:spPr>
          <a:xfrm>
            <a:off x="864394" y="2527436"/>
            <a:ext cx="3357563" cy="405631"/>
          </a:xfrm>
          <a:prstGeom prst="roundRect">
            <a:avLst>
              <a:gd name="adj" fmla="val 14089"/>
            </a:avLst>
          </a:prstGeom>
          <a:solidFill>
            <a:srgbClr val="FE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864394" y="2527436"/>
            <a:ext cx="3357563" cy="405631"/>
          </a:xfrm>
          <a:prstGeom prst="rect">
            <a:avLst/>
          </a:prstGeom>
          <a:noFill/>
          <a:ln/>
        </p:spPr>
        <p:txBody>
          <a:bodyPr wrap="none" lIns="73660" tIns="58928" rIns="73660" bIns="5892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anime({ targets: '.sg-i', translateX: [-120, 0],</a:t>
            </a:r>
            <a:br/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  delay: anime.stagger(120) });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864394" y="3018792"/>
            <a:ext cx="3357563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警告原因：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stagger() 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延迟无法逐元素表达</a:t>
            </a:r>
            <a:br/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元素静态显示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64394" y="3387365"/>
            <a:ext cx="1047564" cy="178594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</p:spPr>
        <p:txBody>
          <a:bodyPr wrap="none" lIns="78581" tIns="28575" rIns="78581" bIns="28575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b="1" dirty="0">
                <a:solidFill>
                  <a:srgbClr val="B91C1C"/>
                </a:solidFill>
                <a:latin typeface="PingFang SC" pitchFamily="34" charset="0"/>
              </a:rPr>
              <a:t>UNMAPPED </a:t>
            </a: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19" name="dh-grp-unmapped-anime-compound"/>
          <p:cNvSpPr/>
          <p:nvPr/>
        </p:nvSpPr>
        <p:spPr>
          <a:xfrm>
            <a:off x="4743450" y="1685925"/>
            <a:ext cx="3714750" cy="1800225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  <a:effectLst>
            <a:glow rad="147320">
              <a:srgbClr val="0F172A">
                <a:alpha val="6000"/>
              </a:srgbClr>
            </a:glow>
          </a:effectLst>
        </p:spPr>
      </p:sp>
      <p:sp>
        <p:nvSpPr>
          <p:cNvPr id="20" name="dh-grp-unmapped-anime-compound"/>
          <p:cNvSpPr/>
          <p:nvPr/>
        </p:nvSpPr>
        <p:spPr>
          <a:xfrm>
            <a:off x="4750594" y="1693069"/>
            <a:ext cx="3700463" cy="4286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dh-grp-unmapped-anime-compound"/>
          <p:cNvSpPr/>
          <p:nvPr/>
        </p:nvSpPr>
        <p:spPr>
          <a:xfrm>
            <a:off x="4922044" y="1878806"/>
            <a:ext cx="33575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位移 </a:t>
            </a: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</a:rPr>
              <a:t>+ </a:t>
            </a:r>
            <a:r>
              <a:rPr lang="zh-CN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旋转复合</a:t>
            </a:r>
            <a:endParaRPr lang="en-US" sz="1300" dirty="0"/>
          </a:p>
        </p:txBody>
      </p:sp>
      <p:sp>
        <p:nvSpPr>
          <p:cNvPr id="22" name="dh-grp-unmapped-anime-compound"/>
          <p:cNvSpPr/>
          <p:nvPr/>
        </p:nvSpPr>
        <p:spPr>
          <a:xfrm>
            <a:off x="4922044" y="2200275"/>
            <a:ext cx="3357563" cy="551297"/>
          </a:xfrm>
          <a:prstGeom prst="roundRect">
            <a:avLst>
              <a:gd name="adj" fmla="val 10366"/>
            </a:avLst>
          </a:prstGeom>
          <a:solidFill>
            <a:srgbClr val="FEF2F2"/>
          </a:solidFill>
          <a:ln/>
        </p:spPr>
      </p:sp>
      <p:sp>
        <p:nvSpPr>
          <p:cNvPr id="23" name="dh-grp-unmapped-anime-compound"/>
          <p:cNvSpPr/>
          <p:nvPr/>
        </p:nvSpPr>
        <p:spPr>
          <a:xfrm>
            <a:off x="4922044" y="2200275"/>
            <a:ext cx="3357563" cy="551297"/>
          </a:xfrm>
          <a:prstGeom prst="rect">
            <a:avLst/>
          </a:prstGeom>
          <a:noFill/>
          <a:ln/>
        </p:spPr>
        <p:txBody>
          <a:bodyPr wrap="none" lIns="73660" tIns="58928" rIns="73660" bIns="5892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anime({ targets: '#cpd',</a:t>
            </a:r>
            <a:br/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  translateX: [-200, 0], rotate: [-45, 0],</a:t>
            </a:r>
            <a:br/>
            <a:r>
              <a:rPr lang="en-US" sz="600" dirty="0">
                <a:solidFill>
                  <a:srgbClr val="334155"/>
                </a:solidFill>
                <a:latin typeface="SF Mono" pitchFamily="34" charset="0"/>
              </a:rPr>
              <a:t>  duration: 800 });</a:t>
            </a:r>
            <a:endParaRPr lang="en-US" sz="600" dirty="0"/>
          </a:p>
        </p:txBody>
      </p:sp>
      <p:sp>
        <p:nvSpPr>
          <p:cNvPr id="24" name="dh-grp-unmapped-anime-compound"/>
          <p:cNvSpPr/>
          <p:nvPr/>
        </p:nvSpPr>
        <p:spPr>
          <a:xfrm>
            <a:off x="4922044" y="2837297"/>
            <a:ext cx="3357563" cy="29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警告原因：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compound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（</a:t>
            </a:r>
            <a:r>
              <a:rPr lang="en-US" sz="700" b="1" dirty="0">
                <a:solidFill>
                  <a:srgbClr val="DC2626"/>
                </a:solidFill>
                <a:latin typeface="PingFang SC" pitchFamily="34" charset="0"/>
              </a:rPr>
              <a:t>motion+rotate</a:t>
            </a:r>
            <a:r>
              <a:rPr lang="zh-CN" sz="7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</a:rPr>
              <a:t>）暂不支持</a:t>
            </a:r>
            <a:br/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元素静态显示</a:t>
            </a:r>
            <a:endParaRPr lang="en-US" sz="700" dirty="0"/>
          </a:p>
        </p:txBody>
      </p:sp>
      <p:sp>
        <p:nvSpPr>
          <p:cNvPr id="25" name="dh-grp-unmapped-anime-compound"/>
          <p:cNvSpPr/>
          <p:nvPr/>
        </p:nvSpPr>
        <p:spPr>
          <a:xfrm>
            <a:off x="4922044" y="3205869"/>
            <a:ext cx="1047564" cy="178594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</p:spPr>
        <p:txBody>
          <a:bodyPr wrap="none" lIns="78581" tIns="28575" rIns="78581" bIns="28575" rtlCol="0" anchor="t"/>
          <a:lstStyle/>
          <a:p>
            <a:pPr indent="0" marL="0">
              <a:buNone/>
            </a:pP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b="1" dirty="0">
                <a:solidFill>
                  <a:srgbClr val="B91C1C"/>
                </a:solidFill>
                <a:latin typeface="PingFang SC" pitchFamily="34" charset="0"/>
              </a:rPr>
              <a:t>UNMAPPED </a:t>
            </a:r>
            <a:r>
              <a:rPr lang="zh-CN" sz="7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</a:rPr>
              <a:t>警告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动画窗格中本页</a:t>
            </a: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无动画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；所有元素静态可见（终态）；报告中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2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条警告分别注明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stagger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与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compound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原因；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motion path / spring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缓动等其它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anime.js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高级特性同属未映射范畴。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DC2626"/>
          </a:solidFill>
          <a:ln/>
        </p:spPr>
      </p:sp>
    </p:spTree>
  </p:cSld>
  <p:clrMapOvr>
    <a:masterClrMapping/>
  </p:clrMapOvr>
  <p:transition spd="med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EF2F7"/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257175"/>
            <a:ext cx="1561356" cy="2000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00050" y="257175"/>
            <a:ext cx="1561356" cy="200025"/>
          </a:xfrm>
          <a:prstGeom prst="rect">
            <a:avLst/>
          </a:prstGeom>
          <a:noFill/>
          <a:ln/>
        </p:spPr>
        <p:txBody>
          <a:bodyPr wrap="none" lIns="103124" tIns="36830" rIns="103124" bIns="36830" rtlCol="0" anchor="t"/>
          <a:lstStyle/>
          <a:p>
            <a:pPr indent="0" marL="0">
              <a:buNone/>
            </a:pPr>
            <a:r>
              <a:rPr lang="zh-CN" sz="700" b="1" spc="157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</a:rPr>
              <a:t>声明式 </a:t>
            </a:r>
            <a:r>
              <a:rPr lang="en-US" sz="700" b="1" spc="157" kern="0" dirty="0">
                <a:solidFill>
                  <a:srgbClr val="FFFFFF"/>
                </a:solidFill>
                <a:latin typeface="PingFang SC" pitchFamily="34" charset="0"/>
              </a:rPr>
              <a:t>· data-animation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448042" y="292894"/>
            <a:ext cx="295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PingFang SC" pitchFamily="34" charset="0"/>
              </a:rPr>
              <a:t>19 / 19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0050" y="542925"/>
            <a:ext cx="83439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Fly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短别名（</a:t>
            </a:r>
            <a:r>
              <a:rPr lang="en-US" sz="1600" b="1" dirty="0">
                <a:solidFill>
                  <a:srgbClr val="0F172A"/>
                </a:solidFill>
                <a:latin typeface="PingFang SC" pitchFamily="34" charset="0"/>
              </a:rPr>
              <a:t>fly-left </a:t>
            </a:r>
            <a:r>
              <a:rPr lang="zh-CN" sz="16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等）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0050" y="900113"/>
            <a:ext cx="83439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预期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PPTX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：与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fly-in-*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完全等价的 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4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个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Fly In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；短别名 </a:t>
            </a:r>
            <a:r>
              <a:rPr lang="en-US" sz="700" b="1" dirty="0">
                <a:solidFill>
                  <a:srgbClr val="2563EB"/>
                </a:solidFill>
                <a:latin typeface="PingFang SC" pitchFamily="34" charset="0"/>
              </a:rPr>
              <a:t>fly-left / fly-right / fly-top / fly-bottom</a:t>
            </a:r>
            <a:r>
              <a:rPr lang="en-US" sz="700" dirty="0">
                <a:solidFill>
                  <a:srgbClr val="475569"/>
                </a:solidFill>
                <a:latin typeface="PingFang SC" pitchFamily="34" charset="0"/>
              </a:rPr>
              <a:t> </a:t>
            </a:r>
            <a:r>
              <a:rPr lang="zh-CN" sz="7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</a:rPr>
              <a:t>均应归一到对应方向</a:t>
            </a:r>
            <a:endParaRPr lang="en-US" sz="700" dirty="0"/>
          </a:p>
        </p:txBody>
      </p:sp>
      <p:grpSp>
        <p:nvGrpSpPr>
          <p:cNvPr id="44" name="dh-grp-decl-fly-alias-left"/>
          <p:cNvGrpSpPr/>
          <p:nvPr/>
        </p:nvGrpSpPr>
        <p:grpSpPr>
          <a:xfrm>
            <a:off x="228600" y="1685925"/>
            <a:ext cx="2000250" cy="1800225"/>
            <a:chOff x="0" y="0"/>
            <a:chExt cx="2000250" cy="1800225"/>
          </a:xfrm>
        </p:grpSpPr>
        <p:sp>
          <p:nvSpPr>
            <p:cNvPr id="9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0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2563EB"/>
            </a:solidFill>
            <a:ln/>
          </p:spPr>
        </p:sp>
        <p:sp>
          <p:nvSpPr>
            <p:cNvPr id="11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→</a:t>
              </a:r>
              <a:endParaRPr lang="en-US" sz="1600" dirty="0"/>
            </a:p>
          </p:txBody>
        </p:sp>
        <p:sp>
          <p:nvSpPr>
            <p:cNvPr id="12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fly-left</a:t>
              </a:r>
              <a:endParaRPr lang="en-US" sz="1100" dirty="0"/>
            </a:p>
          </p:txBody>
        </p:sp>
        <p:sp>
          <p:nvSpPr>
            <p:cNvPr id="13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14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data-animation="fly-left"</a:t>
              </a:r>
              <a:endParaRPr lang="en-US" sz="600" dirty="0"/>
            </a:p>
          </p:txBody>
        </p:sp>
        <p:sp>
          <p:nvSpPr>
            <p:cNvPr id="15" name=""/>
            <p:cNvSpPr/>
            <p:nvPr/>
          </p:nvSpPr>
          <p:spPr>
            <a:xfrm>
              <a:off x="150019" y="1052922"/>
              <a:ext cx="1700213" cy="2971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Left</a:t>
              </a:r>
              <a:br/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≡ fly-in-left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700" dirty="0"/>
            </a:p>
          </p:txBody>
        </p:sp>
        <p:sp>
          <p:nvSpPr>
            <p:cNvPr id="16" name=""/>
            <p:cNvSpPr/>
            <p:nvPr/>
          </p:nvSpPr>
          <p:spPr>
            <a:xfrm>
              <a:off x="150019" y="1421495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5" name="dh-grp-decl-fly-alias-right"/>
          <p:cNvGrpSpPr/>
          <p:nvPr/>
        </p:nvGrpSpPr>
        <p:grpSpPr>
          <a:xfrm>
            <a:off x="2457450" y="1685925"/>
            <a:ext cx="2000250" cy="1800225"/>
            <a:chOff x="0" y="0"/>
            <a:chExt cx="2000250" cy="1800225"/>
          </a:xfrm>
        </p:grpSpPr>
        <p:sp>
          <p:nvSpPr>
            <p:cNvPr id="17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18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9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←</a:t>
              </a:r>
              <a:endParaRPr lang="en-US" sz="1600" dirty="0"/>
            </a:p>
          </p:txBody>
        </p:sp>
        <p:sp>
          <p:nvSpPr>
            <p:cNvPr id="20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fly-right</a:t>
              </a:r>
              <a:endParaRPr lang="en-US" sz="1100" dirty="0"/>
            </a:p>
          </p:txBody>
        </p:sp>
        <p:sp>
          <p:nvSpPr>
            <p:cNvPr id="21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22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data-animation="fly-right"</a:t>
              </a:r>
              <a:endParaRPr lang="en-US" sz="600" dirty="0"/>
            </a:p>
          </p:txBody>
        </p:sp>
        <p:sp>
          <p:nvSpPr>
            <p:cNvPr id="23" name=""/>
            <p:cNvSpPr/>
            <p:nvPr/>
          </p:nvSpPr>
          <p:spPr>
            <a:xfrm>
              <a:off x="150019" y="1052922"/>
              <a:ext cx="1700213" cy="2971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Right</a:t>
              </a:r>
              <a:br/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≡ fly-in-right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700" dirty="0"/>
            </a:p>
          </p:txBody>
        </p:sp>
        <p:sp>
          <p:nvSpPr>
            <p:cNvPr id="24" name=""/>
            <p:cNvSpPr/>
            <p:nvPr/>
          </p:nvSpPr>
          <p:spPr>
            <a:xfrm>
              <a:off x="150019" y="1421495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6" name="dh-grp-decl-fly-alias-top"/>
          <p:cNvGrpSpPr/>
          <p:nvPr/>
        </p:nvGrpSpPr>
        <p:grpSpPr>
          <a:xfrm>
            <a:off x="4686300" y="1685925"/>
            <a:ext cx="2000250" cy="1800225"/>
            <a:chOff x="0" y="0"/>
            <a:chExt cx="2000250" cy="1800225"/>
          </a:xfrm>
        </p:grpSpPr>
        <p:sp>
          <p:nvSpPr>
            <p:cNvPr id="25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26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7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↓</a:t>
              </a:r>
              <a:endParaRPr lang="en-US" sz="1600" dirty="0"/>
            </a:p>
          </p:txBody>
        </p:sp>
        <p:sp>
          <p:nvSpPr>
            <p:cNvPr id="28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fly-top</a:t>
              </a:r>
              <a:endParaRPr lang="en-US" sz="1100" dirty="0"/>
            </a:p>
          </p:txBody>
        </p:sp>
        <p:sp>
          <p:nvSpPr>
            <p:cNvPr id="29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30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data-animation="fly-top"</a:t>
              </a:r>
              <a:endParaRPr lang="en-US" sz="600" dirty="0"/>
            </a:p>
          </p:txBody>
        </p:sp>
        <p:sp>
          <p:nvSpPr>
            <p:cNvPr id="31" name=""/>
            <p:cNvSpPr/>
            <p:nvPr/>
          </p:nvSpPr>
          <p:spPr>
            <a:xfrm>
              <a:off x="150019" y="1052922"/>
              <a:ext cx="1700213" cy="2971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Top</a:t>
              </a:r>
              <a:br/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≡ fly-in-top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700" dirty="0"/>
            </a:p>
          </p:txBody>
        </p:sp>
        <p:sp>
          <p:nvSpPr>
            <p:cNvPr id="32" name=""/>
            <p:cNvSpPr/>
            <p:nvPr/>
          </p:nvSpPr>
          <p:spPr>
            <a:xfrm>
              <a:off x="150019" y="1421495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grpSp>
        <p:nvGrpSpPr>
          <p:cNvPr id="47" name="dh-grp-decl-fly-alias-bottom"/>
          <p:cNvGrpSpPr/>
          <p:nvPr/>
        </p:nvGrpSpPr>
        <p:grpSpPr>
          <a:xfrm>
            <a:off x="6915150" y="1685925"/>
            <a:ext cx="2000250" cy="1800225"/>
            <a:chOff x="0" y="0"/>
            <a:chExt cx="2000250" cy="1800225"/>
          </a:xfrm>
        </p:grpSpPr>
        <p:sp>
          <p:nvSpPr>
            <p:cNvPr id="33" name=""/>
            <p:cNvSpPr/>
            <p:nvPr/>
          </p:nvSpPr>
          <p:spPr>
            <a:xfrm>
              <a:off x="0" y="0"/>
              <a:ext cx="2000250" cy="1800225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glow rad="147320">
                <a:srgbClr val="0F172A">
                  <a:alpha val="6000"/>
                </a:srgbClr>
              </a:glow>
            </a:effectLst>
          </p:spPr>
        </p:sp>
        <p:sp>
          <p:nvSpPr>
            <p:cNvPr id="34" name=""/>
            <p:cNvSpPr/>
            <p:nvPr/>
          </p:nvSpPr>
          <p:spPr>
            <a:xfrm>
              <a:off x="7144" y="7144"/>
              <a:ext cx="1985963" cy="42863"/>
            </a:xfrm>
            <a:prstGeom prst="rect">
              <a:avLst/>
            </a:prstGeom>
            <a:solidFill>
              <a:srgbClr val="EA580C"/>
            </a:solidFill>
            <a:ln/>
          </p:spPr>
        </p:sp>
        <p:sp>
          <p:nvSpPr>
            <p:cNvPr id="35" name=""/>
            <p:cNvSpPr/>
            <p:nvPr/>
          </p:nvSpPr>
          <p:spPr>
            <a:xfrm>
              <a:off x="150019" y="178594"/>
              <a:ext cx="1700213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2563EB"/>
                  </a:solidFill>
                  <a:latin typeface="PingFang SC" pitchFamily="34" charset="0"/>
                </a:rPr>
                <a:t>↑</a:t>
              </a:r>
              <a:endParaRPr lang="en-US" sz="1600" dirty="0"/>
            </a:p>
          </p:txBody>
        </p:sp>
        <p:sp>
          <p:nvSpPr>
            <p:cNvPr id="36" name=""/>
            <p:cNvSpPr/>
            <p:nvPr/>
          </p:nvSpPr>
          <p:spPr>
            <a:xfrm>
              <a:off x="150019" y="450056"/>
              <a:ext cx="1700213" cy="20002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PingFang SC" pitchFamily="34" charset="0"/>
                </a:rPr>
                <a:t>fly-bottom</a:t>
              </a:r>
              <a:endParaRPr lang="en-US" sz="1100" dirty="0"/>
            </a:p>
          </p:txBody>
        </p:sp>
        <p:sp>
          <p:nvSpPr>
            <p:cNvPr id="37" name=""/>
            <p:cNvSpPr/>
            <p:nvPr/>
          </p:nvSpPr>
          <p:spPr>
            <a:xfrm>
              <a:off x="150019" y="721519"/>
              <a:ext cx="1700213" cy="259966"/>
            </a:xfrm>
            <a:prstGeom prst="roundRect">
              <a:avLst>
                <a:gd name="adj" fmla="val 21984"/>
              </a:avLst>
            </a:prstGeom>
            <a:solidFill>
              <a:srgbClr val="F1F5F9"/>
            </a:solidFill>
            <a:ln/>
          </p:spPr>
        </p:sp>
        <p:sp>
          <p:nvSpPr>
            <p:cNvPr id="38" name=""/>
            <p:cNvSpPr/>
            <p:nvPr/>
          </p:nvSpPr>
          <p:spPr>
            <a:xfrm>
              <a:off x="150019" y="721519"/>
              <a:ext cx="1700213" cy="259966"/>
            </a:xfrm>
            <a:prstGeom prst="rect">
              <a:avLst/>
            </a:prstGeom>
            <a:noFill/>
            <a:ln/>
          </p:spPr>
          <p:txBody>
            <a:bodyPr wrap="none" lIns="73660" tIns="58928" rIns="73660" bIns="58928" rtlCol="0" anchor="t"/>
            <a:lstStyle/>
            <a:p>
              <a:pPr indent="0" marL="0">
                <a:lnSpc>
                  <a:spcPct val="170000"/>
                </a:lnSpc>
                <a:buNone/>
              </a:pPr>
              <a:r>
                <a:rPr lang="en-US" sz="600" dirty="0">
                  <a:solidFill>
                    <a:srgbClr val="334155"/>
                  </a:solidFill>
                  <a:latin typeface="SF Mono" pitchFamily="34" charset="0"/>
                </a:rPr>
                <a:t>data-animation="fly-bottom"</a:t>
              </a:r>
              <a:endParaRPr lang="en-US" sz="600" dirty="0"/>
            </a:p>
          </p:txBody>
        </p:sp>
        <p:sp>
          <p:nvSpPr>
            <p:cNvPr id="39" name=""/>
            <p:cNvSpPr/>
            <p:nvPr/>
          </p:nvSpPr>
          <p:spPr>
            <a:xfrm>
              <a:off x="150019" y="1052922"/>
              <a:ext cx="1700213" cy="2971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 marL="0">
                <a:lnSpc>
                  <a:spcPct val="160000"/>
                </a:lnSpc>
                <a:buNone/>
              </a:pP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PPTX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：</a:t>
              </a: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Fly In · From Bottom</a:t>
              </a:r>
              <a:br/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（</a:t>
              </a:r>
              <a:r>
                <a:rPr lang="en-US" sz="700" dirty="0">
                  <a:solidFill>
                    <a:srgbClr val="64748B"/>
                  </a:solidFill>
                  <a:latin typeface="PingFang SC" pitchFamily="34" charset="0"/>
                </a:rPr>
                <a:t>≡ fly-in-bottom</a:t>
              </a:r>
              <a:r>
                <a:rPr lang="zh-CN" sz="700" dirty="0">
                  <a:solidFill>
                    <a:srgbClr val="64748B"/>
                  </a:solidFill>
                  <a:latin typeface="PingFang SC" pitchFamily="34" charset="0"/>
                  <a:ea typeface="PingFang SC" pitchFamily="34" charset="-122"/>
                </a:rPr>
                <a:t>）</a:t>
              </a:r>
              <a:endParaRPr lang="en-US" sz="700" dirty="0"/>
            </a:p>
          </p:txBody>
        </p:sp>
        <p:sp>
          <p:nvSpPr>
            <p:cNvPr id="40" name=""/>
            <p:cNvSpPr/>
            <p:nvPr/>
          </p:nvSpPr>
          <p:spPr>
            <a:xfrm>
              <a:off x="150019" y="1421495"/>
              <a:ext cx="654546" cy="164306"/>
            </a:xfrm>
            <a:prstGeom prst="roundRect">
              <a:avLst>
                <a:gd name="adj" fmla="val 26087"/>
              </a:avLst>
            </a:prstGeom>
            <a:solidFill>
              <a:srgbClr val="EFF6FF"/>
            </a:solidFill>
            <a:ln/>
          </p:spPr>
          <p:txBody>
            <a:bodyPr wrap="none" lIns="71438" tIns="21431" rIns="71438" bIns="21431" rtlCol="0" anchor="t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563EB"/>
                  </a:solidFill>
                  <a:latin typeface="PingFang SC" pitchFamily="34" charset="0"/>
                </a:rPr>
                <a:t>trigger: click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400050" y="4628480"/>
            <a:ext cx="8343900" cy="343570"/>
          </a:xfrm>
          <a:prstGeom prst="roundRect">
            <a:avLst>
              <a:gd name="adj" fmla="val 20793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400050" y="4628480"/>
            <a:ext cx="8343900" cy="343570"/>
          </a:xfrm>
          <a:prstGeom prst="rect">
            <a:avLst/>
          </a:prstGeom>
          <a:noFill/>
          <a:ln/>
        </p:spPr>
        <p:txBody>
          <a:bodyPr wrap="none" lIns="147320" tIns="95758" rIns="125222" bIns="95758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zh-CN" sz="7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</a:rPr>
              <a:t>验收要点：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与第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02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页对比，动画窗格效果应一致（均为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Fly In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四方向）；确认短别名不会被当成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unknown effect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产生 </a:t>
            </a:r>
            <a:r>
              <a:rPr lang="en-US" sz="700" dirty="0">
                <a:solidFill>
                  <a:srgbClr val="64748B"/>
                </a:solidFill>
                <a:latin typeface="PingFang SC" pitchFamily="34" charset="0"/>
              </a:rPr>
              <a:t>UNMAPPED </a:t>
            </a:r>
            <a:r>
              <a:rPr lang="zh-CN" sz="7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</a:rPr>
              <a:t>警告。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400050" y="4628480"/>
            <a:ext cx="28575" cy="343570"/>
          </a:xfrm>
          <a:custGeom>
            <a:pathLst>
              <a:path w="21600" h="21600">
                <a:moveTo>
                  <a:pt x="21600" y="898"/>
                </a:moveTo>
                <a:cubicBezTo>
                  <a:pt x="8002" y="1746"/>
                  <a:pt x="0" y="3078"/>
                  <a:pt x="0" y="4491"/>
                </a:cubicBezTo>
                <a:lnTo>
                  <a:pt x="0" y="17109"/>
                </a:lnTo>
                <a:cubicBezTo>
                  <a:pt x="0" y="18522"/>
                  <a:pt x="8002" y="19854"/>
                  <a:pt x="21600" y="20702"/>
                </a:cubicBezTo>
                <a:lnTo>
                  <a:pt x="21600" y="19265"/>
                </a:lnTo>
                <a:cubicBezTo>
                  <a:pt x="21600" y="18756"/>
                  <a:pt x="21600" y="17957"/>
                  <a:pt x="21600" y="17109"/>
                </a:cubicBezTo>
                <a:lnTo>
                  <a:pt x="21600" y="4491"/>
                </a:lnTo>
                <a:cubicBezTo>
                  <a:pt x="21600" y="3643"/>
                  <a:pt x="21600" y="2844"/>
                  <a:pt x="21600" y="2335"/>
                </a:cubicBezTo>
                <a:lnTo>
                  <a:pt x="21600" y="898"/>
                </a:lnTo>
                <a:close/>
              </a:path>
            </a:pathLst>
          </a:custGeom>
          <a:solidFill>
            <a:srgbClr val="2563EB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2026-08-11T03:34:43Z</dcterms:created>
  <dcterms:modified xsi:type="dcterms:W3CDTF">2026-08-11T03:34:43Z</dcterms:modified>
</cp:coreProperties>
</file>