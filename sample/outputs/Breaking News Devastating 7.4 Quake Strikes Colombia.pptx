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glow rad="441960">
              <a:srgbClr val="000000">
                <a:alpha val="20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custGeom>
            <a:pathLst>
              <a:path w="21600" h="21600">
                <a:moveTo>
                  <a:pt x="36" y="21600"/>
                </a:moveTo>
                <a:cubicBezTo>
                  <a:pt x="84" y="8234"/>
                  <a:pt x="174" y="0"/>
                  <a:pt x="270" y="0"/>
                </a:cubicBezTo>
                <a:lnTo>
                  <a:pt x="21330" y="0"/>
                </a:lnTo>
                <a:cubicBezTo>
                  <a:pt x="21426" y="0"/>
                  <a:pt x="21516" y="8234"/>
                  <a:pt x="21564" y="21600"/>
                </a:cubicBezTo>
                <a:lnTo>
                  <a:pt x="21447" y="21600"/>
                </a:lnTo>
                <a:cubicBezTo>
                  <a:pt x="21423" y="21600"/>
                  <a:pt x="21378" y="21600"/>
                  <a:pt x="21330" y="21600"/>
                </a:cubicBezTo>
                <a:lnTo>
                  <a:pt x="270" y="21600"/>
                </a:lnTo>
                <a:cubicBezTo>
                  <a:pt x="222" y="21600"/>
                  <a:pt x="177" y="21600"/>
                  <a:pt x="153" y="21600"/>
                </a:cubicBezTo>
                <a:lnTo>
                  <a:pt x="36" y="2160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" name="Shape 2"/>
          <p:cNvSpPr/>
          <p:nvPr/>
        </p:nvSpPr>
        <p:spPr>
          <a:xfrm>
            <a:off x="4114800" y="57150"/>
            <a:ext cx="5029200" cy="5086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514850" y="514350"/>
            <a:ext cx="1288107" cy="950119"/>
          </a:xfrm>
          <a:prstGeom prst="roundRect">
            <a:avLst>
              <a:gd name="adj" fmla="val 9023"/>
            </a:avLst>
          </a:prstGeom>
          <a:solidFill>
            <a:srgbClr val="F8FAFC"/>
          </a:solidFill>
          <a:ln/>
          <a:effectLst>
            <a:glow rad="184150">
              <a:srgbClr val="000000">
                <a:alpha val="3000"/>
              </a:srgbClr>
            </a:glow>
          </a:effectLst>
        </p:spPr>
      </p:sp>
      <p:sp>
        <p:nvSpPr>
          <p:cNvPr id="7" name="Shape 4"/>
          <p:cNvSpPr/>
          <p:nvPr/>
        </p:nvSpPr>
        <p:spPr>
          <a:xfrm>
            <a:off x="4514850" y="1435894"/>
            <a:ext cx="1288107" cy="28575"/>
          </a:xfrm>
          <a:custGeom>
            <a:pathLst>
              <a:path w="21600" h="21600">
                <a:moveTo>
                  <a:pt x="366" y="0"/>
                </a:moveTo>
                <a:cubicBezTo>
                  <a:pt x="639" y="13744"/>
                  <a:pt x="1028" y="21600"/>
                  <a:pt x="1438" y="21600"/>
                </a:cubicBezTo>
                <a:lnTo>
                  <a:pt x="20162" y="21600"/>
                </a:lnTo>
                <a:cubicBezTo>
                  <a:pt x="20572" y="21600"/>
                  <a:pt x="20961" y="13744"/>
                  <a:pt x="21234" y="0"/>
                </a:cubicBezTo>
                <a:lnTo>
                  <a:pt x="20877" y="0"/>
                </a:lnTo>
                <a:cubicBezTo>
                  <a:pt x="20695" y="0"/>
                  <a:pt x="20435" y="0"/>
                  <a:pt x="20162" y="0"/>
                </a:cubicBezTo>
                <a:lnTo>
                  <a:pt x="1438" y="0"/>
                </a:lnTo>
                <a:cubicBezTo>
                  <a:pt x="1165" y="0"/>
                  <a:pt x="905" y="0"/>
                  <a:pt x="723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4664869" y="692944"/>
            <a:ext cx="98807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spc="157" kern="0" dirty="0">
                <a:solidFill>
                  <a:srgbClr val="0F172A"/>
                </a:solidFill>
                <a:latin typeface="Inter" pitchFamily="34" charset="0"/>
              </a:rPr>
              <a:t>111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664869" y="1150144"/>
            <a:ext cx="9880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78" kern="0" dirty="0">
                <a:solidFill>
                  <a:srgbClr val="64748B"/>
                </a:solidFill>
                <a:latin typeface="Inter" pitchFamily="34" charset="0"/>
              </a:rPr>
              <a:t>FATALITIES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974407" y="514350"/>
            <a:ext cx="1288107" cy="950119"/>
          </a:xfrm>
          <a:prstGeom prst="roundRect">
            <a:avLst>
              <a:gd name="adj" fmla="val 9023"/>
            </a:avLst>
          </a:prstGeom>
          <a:solidFill>
            <a:srgbClr val="F8FAFC"/>
          </a:solidFill>
          <a:ln/>
          <a:effectLst>
            <a:glow rad="184150">
              <a:srgbClr val="000000">
                <a:alpha val="3000"/>
              </a:srgbClr>
            </a:glow>
          </a:effectLst>
        </p:spPr>
      </p:sp>
      <p:sp>
        <p:nvSpPr>
          <p:cNvPr id="11" name="Shape 8"/>
          <p:cNvSpPr/>
          <p:nvPr/>
        </p:nvSpPr>
        <p:spPr>
          <a:xfrm>
            <a:off x="5974407" y="1435894"/>
            <a:ext cx="1288107" cy="28575"/>
          </a:xfrm>
          <a:custGeom>
            <a:pathLst>
              <a:path w="21600" h="21600">
                <a:moveTo>
                  <a:pt x="366" y="0"/>
                </a:moveTo>
                <a:cubicBezTo>
                  <a:pt x="639" y="13744"/>
                  <a:pt x="1028" y="21600"/>
                  <a:pt x="1438" y="21600"/>
                </a:cubicBezTo>
                <a:lnTo>
                  <a:pt x="20162" y="21600"/>
                </a:lnTo>
                <a:cubicBezTo>
                  <a:pt x="20572" y="21600"/>
                  <a:pt x="20961" y="13744"/>
                  <a:pt x="21234" y="0"/>
                </a:cubicBezTo>
                <a:lnTo>
                  <a:pt x="20877" y="0"/>
                </a:lnTo>
                <a:cubicBezTo>
                  <a:pt x="20695" y="0"/>
                  <a:pt x="20435" y="0"/>
                  <a:pt x="20162" y="0"/>
                </a:cubicBezTo>
                <a:lnTo>
                  <a:pt x="1438" y="0"/>
                </a:lnTo>
                <a:cubicBezTo>
                  <a:pt x="1165" y="0"/>
                  <a:pt x="905" y="0"/>
                  <a:pt x="723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124426" y="692944"/>
            <a:ext cx="98807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spc="157" kern="0" dirty="0">
                <a:solidFill>
                  <a:srgbClr val="0F172A"/>
                </a:solidFill>
                <a:latin typeface="Inter" pitchFamily="34" charset="0"/>
              </a:rPr>
              <a:t>87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124426" y="1150144"/>
            <a:ext cx="9880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78" kern="0" dirty="0">
                <a:solidFill>
                  <a:srgbClr val="64748B"/>
                </a:solidFill>
                <a:latin typeface="Inter" pitchFamily="34" charset="0"/>
              </a:rPr>
              <a:t>INJURED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7433965" y="514350"/>
            <a:ext cx="1309985" cy="950119"/>
          </a:xfrm>
          <a:prstGeom prst="roundRect">
            <a:avLst>
              <a:gd name="adj" fmla="val 9023"/>
            </a:avLst>
          </a:prstGeom>
          <a:solidFill>
            <a:srgbClr val="F8FAFC"/>
          </a:solidFill>
          <a:ln/>
          <a:effectLst>
            <a:glow rad="184150">
              <a:srgbClr val="000000">
                <a:alpha val="3000"/>
              </a:srgbClr>
            </a:glow>
          </a:effectLst>
        </p:spPr>
      </p:sp>
      <p:sp>
        <p:nvSpPr>
          <p:cNvPr id="15" name="Shape 12"/>
          <p:cNvSpPr/>
          <p:nvPr/>
        </p:nvSpPr>
        <p:spPr>
          <a:xfrm>
            <a:off x="7433965" y="1435894"/>
            <a:ext cx="1309985" cy="28575"/>
          </a:xfrm>
          <a:custGeom>
            <a:pathLst>
              <a:path w="21600" h="21600">
                <a:moveTo>
                  <a:pt x="360" y="0"/>
                </a:moveTo>
                <a:cubicBezTo>
                  <a:pt x="628" y="13744"/>
                  <a:pt x="1011" y="21600"/>
                  <a:pt x="1413" y="21600"/>
                </a:cubicBezTo>
                <a:lnTo>
                  <a:pt x="20187" y="21600"/>
                </a:lnTo>
                <a:cubicBezTo>
                  <a:pt x="20589" y="21600"/>
                  <a:pt x="20972" y="13744"/>
                  <a:pt x="21240" y="0"/>
                </a:cubicBezTo>
                <a:lnTo>
                  <a:pt x="20889" y="0"/>
                </a:lnTo>
                <a:cubicBezTo>
                  <a:pt x="20710" y="0"/>
                  <a:pt x="20455" y="0"/>
                  <a:pt x="20187" y="0"/>
                </a:cubicBezTo>
                <a:lnTo>
                  <a:pt x="1413" y="0"/>
                </a:lnTo>
                <a:cubicBezTo>
                  <a:pt x="1145" y="0"/>
                  <a:pt x="890" y="0"/>
                  <a:pt x="711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7583984" y="692944"/>
            <a:ext cx="100994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spc="157" kern="0" dirty="0">
                <a:solidFill>
                  <a:srgbClr val="0F172A"/>
                </a:solidFill>
                <a:latin typeface="Inter" pitchFamily="34" charset="0"/>
              </a:rPr>
              <a:t>1,575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583984" y="1150144"/>
            <a:ext cx="10099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78" kern="0" dirty="0">
                <a:solidFill>
                  <a:srgbClr val="64748B"/>
                </a:solidFill>
                <a:latin typeface="Inter" pitchFamily="34" charset="0"/>
              </a:rPr>
              <a:t>HOMES DAMAGED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514850" y="1807369"/>
            <a:ext cx="4229100" cy="1007269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glow rad="110490">
              <a:srgbClr val="000000">
                <a:alpha val="2000"/>
              </a:srgbClr>
            </a:glow>
          </a:effectLst>
        </p:spPr>
      </p:sp>
      <p:sp>
        <p:nvSpPr>
          <p:cNvPr id="19" name="Shape 16"/>
          <p:cNvSpPr/>
          <p:nvPr/>
        </p:nvSpPr>
        <p:spPr>
          <a:xfrm>
            <a:off x="4664869" y="1957388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20" name="Text 17"/>
          <p:cNvSpPr/>
          <p:nvPr/>
        </p:nvSpPr>
        <p:spPr>
          <a:xfrm>
            <a:off x="4664869" y="19573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Inter" pitchFamily="34" charset="0"/>
              </a:rPr>
              <a:t>📍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50644" y="1957388"/>
            <a:ext cx="34432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</a:rPr>
              <a:t>EPICENTER DETAILS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50644" y="2150269"/>
            <a:ext cx="3443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</a:rPr>
              <a:t>The quake struck at 7:34 a.m. near San Jose del Palmar in the Choco department, originating at a severe depth of 96 kilometers.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14850" y="2986088"/>
            <a:ext cx="4229100" cy="1007269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glow rad="110490">
              <a:srgbClr val="000000">
                <a:alpha val="2000"/>
              </a:srgbClr>
            </a:glow>
          </a:effectLst>
        </p:spPr>
      </p:sp>
      <p:sp>
        <p:nvSpPr>
          <p:cNvPr id="24" name="Shape 21"/>
          <p:cNvSpPr/>
          <p:nvPr/>
        </p:nvSpPr>
        <p:spPr>
          <a:xfrm>
            <a:off x="4664869" y="3136106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25" name="Text 22"/>
          <p:cNvSpPr/>
          <p:nvPr/>
        </p:nvSpPr>
        <p:spPr>
          <a:xfrm>
            <a:off x="4664869" y="313610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Inter" pitchFamily="34" charset="0"/>
              </a:rPr>
              <a:t>⚠️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50644" y="3136106"/>
            <a:ext cx="34432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</a:rPr>
              <a:t>NATIONAL DISASTER STATUS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50644" y="3328988"/>
            <a:ext cx="3443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</a:rPr>
              <a:t>Emergency protocols have been activated nationwide as rescue teams search collapsed structures across multiple cities.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14850" y="4164806"/>
            <a:ext cx="4229100" cy="835819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glow rad="110490">
              <a:srgbClr val="000000">
                <a:alpha val="2000"/>
              </a:srgbClr>
            </a:glow>
          </a:effectLst>
        </p:spPr>
      </p:sp>
      <p:sp>
        <p:nvSpPr>
          <p:cNvPr id="29" name="Shape 26"/>
          <p:cNvSpPr/>
          <p:nvPr/>
        </p:nvSpPr>
        <p:spPr>
          <a:xfrm>
            <a:off x="4664869" y="43148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30" name="Text 27"/>
          <p:cNvSpPr/>
          <p:nvPr/>
        </p:nvSpPr>
        <p:spPr>
          <a:xfrm>
            <a:off x="4664869" y="431482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Inter" pitchFamily="34" charset="0"/>
              </a:rPr>
              <a:t>✈️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150644" y="4314825"/>
            <a:ext cx="34432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</a:rPr>
              <a:t>INFRASTRUCTURE HALT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50644" y="4507706"/>
            <a:ext cx="34432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</a:rPr>
              <a:t>Commercial flight operations have been fully suspended at six regional airports due to critical infrastructure damage.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57150"/>
            <a:ext cx="4114800" cy="5086350"/>
          </a:xfrm>
          <a:prstGeom prst="rect">
            <a:avLst/>
          </a:prstGeom>
          <a:gradFill>
            <a:gsLst>
              <a:gs pos="0">
                <a:srgbClr val="111827"/>
              </a:gs>
              <a:gs pos="100000">
                <a:srgbClr val="1E293B"/>
              </a:gs>
            </a:gsLst>
            <a:lin ang="3300000" scaled="1"/>
          </a:gra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4114800" cy="508635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42900" y="514350"/>
            <a:ext cx="1376846" cy="235744"/>
          </a:xfrm>
          <a:prstGeom prst="roundRect">
            <a:avLst>
              <a:gd name="adj" fmla="val 12121"/>
            </a:avLst>
          </a:prstGeom>
          <a:solidFill>
            <a:srgbClr val="DC2626"/>
          </a:solidFill>
          <a:ln/>
          <a:effectLst>
            <a:glow rad="88392">
              <a:srgbClr val="DC2626">
                <a:alpha val="40000"/>
              </a:srgbClr>
            </a:glow>
          </a:effectLst>
        </p:spPr>
      </p:sp>
      <p:sp>
        <p:nvSpPr>
          <p:cNvPr id="36" name="Text 32"/>
          <p:cNvSpPr/>
          <p:nvPr/>
        </p:nvSpPr>
        <p:spPr>
          <a:xfrm>
            <a:off x="342900" y="514350"/>
            <a:ext cx="1376846" cy="235744"/>
          </a:xfrm>
          <a:prstGeom prst="rect">
            <a:avLst/>
          </a:prstGeom>
          <a:noFill/>
          <a:ln/>
        </p:spPr>
        <p:txBody>
          <a:bodyPr wrap="none" lIns="117856" tIns="58928" rIns="117856" bIns="58928" rtlCol="0" anchor="ctr"/>
          <a:lstStyle/>
          <a:p>
            <a:pPr indent="0" marL="0">
              <a:buNone/>
            </a:pPr>
            <a:r>
              <a:rPr lang="en-US" sz="500" b="1" spc="157" kern="0" dirty="0">
                <a:solidFill>
                  <a:srgbClr val="FFFFFF">
                    <a:alpha val="93000"/>
                  </a:srgbClr>
                </a:solidFill>
                <a:latin typeface="Inter" pitchFamily="34" charset="0"/>
              </a:rPr>
              <a:t>●</a:t>
            </a:r>
            <a:r>
              <a:rPr lang="en-US" sz="700" b="1" spc="157" kern="0" dirty="0">
                <a:solidFill>
                  <a:srgbClr val="FFFFFF"/>
                </a:solidFill>
                <a:latin typeface="Inter" pitchFamily="34" charset="0"/>
              </a:rPr>
              <a:t>BREAKING NEWS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42900" y="950119"/>
            <a:ext cx="3429000" cy="118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78" kern="0" dirty="0">
                <a:solidFill>
                  <a:srgbClr val="F8FAFC"/>
                </a:solidFill>
                <a:latin typeface="Inter" pitchFamily="34" charset="0"/>
              </a:rPr>
              <a:t>Devastating </a:t>
            </a:r>
            <a:r>
              <a:rPr lang="en-US" sz="2600" b="1" spc="78" kern="0" dirty="0">
                <a:solidFill>
                  <a:srgbClr val="EF4444"/>
                </a:solidFill>
                <a:latin typeface="Inter" pitchFamily="34" charset="0"/>
              </a:rPr>
              <a:t>7.4</a:t>
            </a:r>
            <a:r>
              <a:rPr lang="en-US" sz="2600" b="1" spc="78" kern="0" dirty="0">
                <a:solidFill>
                  <a:srgbClr val="F8FAFC"/>
                </a:solidFill>
                <a:latin typeface="Inter" pitchFamily="34" charset="0"/>
              </a:rPr>
              <a:t> Quake Strikes Colombia</a:t>
            </a:r>
            <a:endParaRPr lang="en-US" sz="2600" dirty="0"/>
          </a:p>
        </p:txBody>
      </p:sp>
      <p:sp>
        <p:nvSpPr>
          <p:cNvPr id="38" name="Text 34"/>
          <p:cNvSpPr/>
          <p:nvPr/>
        </p:nvSpPr>
        <p:spPr>
          <a:xfrm>
            <a:off x="342900" y="2304306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</a:rPr>
              <a:t>A massive seismic event hit western Colombia early Monday, prompting the government to issue an immediate declaration of a national disaster.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42900" y="3313361"/>
            <a:ext cx="3429000" cy="1372939"/>
          </a:xfrm>
          <a:custGeom>
            <a:pathLst>
              <a:path w="21600" h="21600">
                <a:moveTo>
                  <a:pt x="0" y="0"/>
                </a:moveTo>
                <a:lnTo>
                  <a:pt x="21060" y="0"/>
                </a:lnTo>
                <a:lnTo>
                  <a:pt x="21165" y="26"/>
                </a:lnTo>
                <a:lnTo>
                  <a:pt x="21267" y="103"/>
                </a:lnTo>
                <a:lnTo>
                  <a:pt x="21360" y="227"/>
                </a:lnTo>
                <a:lnTo>
                  <a:pt x="21442" y="395"/>
                </a:lnTo>
                <a:lnTo>
                  <a:pt x="21509" y="599"/>
                </a:lnTo>
                <a:lnTo>
                  <a:pt x="21559" y="833"/>
                </a:lnTo>
                <a:lnTo>
                  <a:pt x="21590" y="1086"/>
                </a:lnTo>
                <a:lnTo>
                  <a:pt x="21600" y="1349"/>
                </a:lnTo>
                <a:lnTo>
                  <a:pt x="21600" y="20251"/>
                </a:lnTo>
                <a:lnTo>
                  <a:pt x="21590" y="20514"/>
                </a:lnTo>
                <a:lnTo>
                  <a:pt x="21559" y="20767"/>
                </a:lnTo>
                <a:lnTo>
                  <a:pt x="21509" y="21001"/>
                </a:lnTo>
                <a:lnTo>
                  <a:pt x="21442" y="21205"/>
                </a:lnTo>
                <a:lnTo>
                  <a:pt x="21360" y="21373"/>
                </a:lnTo>
                <a:lnTo>
                  <a:pt x="21267" y="21497"/>
                </a:lnTo>
                <a:lnTo>
                  <a:pt x="21165" y="21574"/>
                </a:lnTo>
                <a:lnTo>
                  <a:pt x="2106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C2626">
              <a:alpha val="10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342900" y="3313361"/>
            <a:ext cx="28575" cy="1372939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1" name="Text 37"/>
          <p:cNvSpPr/>
          <p:nvPr/>
        </p:nvSpPr>
        <p:spPr>
          <a:xfrm>
            <a:off x="600075" y="3484811"/>
            <a:ext cx="29432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Inter" pitchFamily="34" charset="0"/>
              </a:rPr>
              <a:t>"The Colombian government has declared a state of national disaster to respond to the impact of the earthquake and rapidly deploy rescue operations."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00075" y="4393406"/>
            <a:ext cx="29432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spc="78" kern="0" dirty="0">
                <a:solidFill>
                  <a:srgbClr val="EF4444"/>
                </a:solidFill>
                <a:latin typeface="Inter" pitchFamily="34" charset="0"/>
              </a:rPr>
              <a:t>— PRESIDENT ABELARDO DE LA ESPRIELLA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 dir="rd"/>
      </p:transition>
    </mc:Choice>
    <mc:Fallback>
      <p:transition spd="med">
        <p:fade thruBlk="0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2026-08-11T03:34:33Z</dcterms:created>
  <dcterms:modified xsi:type="dcterms:W3CDTF">2026-08-11T03:34:33Z</dcterms:modified>
</cp:coreProperties>
</file>