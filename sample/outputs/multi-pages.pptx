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0"/>
            <a:ext cx="8572500" cy="4629150"/>
          </a:xfrm>
          <a:prstGeom prst="roundRect">
            <a:avLst>
              <a:gd name="adj" fmla="val 3704"/>
            </a:avLst>
          </a:prstGeom>
          <a:solidFill>
            <a:srgbClr val="0F172A">
              <a:alpha val="4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  <a:effectLst>
            <a:glow rad="368300">
              <a:srgbClr val="000000">
                <a:alpha val="50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521494" y="178594"/>
            <a:ext cx="8101013" cy="464344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521494" y="635794"/>
            <a:ext cx="8101013" cy="7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5806" y="192881"/>
            <a:ext cx="17602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zh-CN" sz="1200" b="1" dirty="0">
                <a:solidFill>
                  <a:srgbClr val="FFFFFF"/>
                </a:solidFill>
                <a:latin typeface="Outfit" pitchFamily="34" charset="0"/>
                <a:ea typeface="PingFang SC" pitchFamily="34" charset="-122"/>
              </a:rPr>
              <a:t>损失函数优化与梯度下降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94" y="221456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494" y="421481"/>
            <a:ext cx="197457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模型收敛与性能诊断指标分析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7905229" y="278606"/>
            <a:ext cx="717277" cy="171450"/>
          </a:xfrm>
          <a:prstGeom prst="roundRect">
            <a:avLst>
              <a:gd name="adj" fmla="val 50000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5229" y="278606"/>
            <a:ext cx="717277" cy="171450"/>
          </a:xfrm>
          <a:prstGeom prst="rect">
            <a:avLst/>
          </a:prstGeom>
          <a:noFill/>
          <a:ln/>
        </p:spPr>
        <p:txBody>
          <a:bodyPr wrap="none" lIns="81026" tIns="29464" rIns="81026" bIns="29464" rtlCol="0" anchor="t"/>
          <a:lstStyle/>
          <a:p>
            <a:pPr algn="r" indent="0" marL="0">
              <a:buNone/>
            </a:pPr>
            <a:r>
              <a:rPr lang="zh-CN" sz="600" b="1" dirty="0">
                <a:solidFill>
                  <a:srgbClr val="6366F1"/>
                </a:solidFill>
                <a:latin typeface="Inter" pitchFamily="34" charset="0"/>
                <a:ea typeface="PingFang SC" pitchFamily="34" charset="-122"/>
              </a:rPr>
              <a:t>运行状态：正常</a:t>
            </a:r>
            <a:endParaRPr lang="en-US" sz="600" dirty="0"/>
          </a:p>
        </p:txBody>
      </p:sp>
      <p:sp>
        <p:nvSpPr>
          <p:cNvPr id="11" name="Shape 7"/>
          <p:cNvSpPr/>
          <p:nvPr/>
        </p:nvSpPr>
        <p:spPr>
          <a:xfrm>
            <a:off x="521494" y="757238"/>
            <a:ext cx="2785281" cy="1926245"/>
          </a:xfrm>
          <a:prstGeom prst="roundRect">
            <a:avLst>
              <a:gd name="adj" fmla="val 5192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1513" y="878681"/>
            <a:ext cx="24852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🔑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损失与更新目标函数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71513" y="1107281"/>
            <a:ext cx="2485244" cy="1297595"/>
          </a:xfrm>
          <a:prstGeom prst="roundRect">
            <a:avLst>
              <a:gd name="adj" fmla="val 5505"/>
            </a:avLst>
          </a:prstGeom>
          <a:solidFill>
            <a:srgbClr val="FFFFFF">
              <a:alpha val="1000"/>
            </a:srgbClr>
          </a:solidFill>
          <a:ln w="6350">
            <a:solidFill>
              <a:srgbClr val="FFFFFF">
                <a:alpha val="4000"/>
              </a:srgbClr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877565" y="1285875"/>
            <a:ext cx="2073139" cy="396367"/>
          </a:xfrm>
          <a:prstGeom prst="rect">
            <a:avLst/>
          </a:prstGeom>
          <a:ln/>
        </p:spPr>
        <p:txBody>
          <a:bodyPr wrap="none" anchor="ctr"/>
          <a:lstStyle/>
          <a:p>
            <a:pPr>
              <a:defRPr>
                <a:solidFill>
                  <a:srgbClr val="F8FAFC"/>
                </a:solidFill>
              </a:defRPr>
            </a:pPr>
            <mc:AlternateContent>
              <mc:Choice Requires="a14"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900"/>
                        <m:t xml:space="preserve">L(w,b)=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900"/>
                            <m:t xml:space="preserve">1</m:t>
                          </m:r>
                        </m:num>
                        <m:den>
                          <m:r>
                            <a:rPr sz="900"/>
                            <m:t xml:space="preserve">m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sz="900"/>
                            <m:t xml:space="preserve">i=1</m:t>
                          </m:r>
                        </m:sub>
                        <m:sup>
                          <m:r>
                            <a:rPr sz="900"/>
                            <m:t xml:space="preserve">m</m:t>
                          </m:r>
                        </m:sup>
                        <m:e>
                          <m:r>
                            <a:rPr sz="900"/>
                            <m:t xml:space="preserve"> </m:t>
                          </m:r>
                        </m:e>
                      </m:nary>
                      <m:sSub>
                        <m:sSubPr>
                          <m:ctrlPr/>
                        </m:sSubPr>
                        <m:e>
                          <m:r>
                            <a:rPr sz="900"/>
                            <m:t xml:space="preserve">L</m:t>
                          </m:r>
                        </m:e>
                        <m:sub>
                          <m:r>
                            <a:rPr sz="900"/>
                            <m:t xml:space="preserve">CE</m:t>
                          </m:r>
                        </m:sub>
                      </m:sSub>
                      <m:r>
                        <a:rPr sz="900"/>
                        <m:t xml:space="preserve">(f(</m:t>
                      </m:r>
                      <m:sSup>
                        <m:sSupPr>
                          <m:ctrlPr/>
                        </m:sSupPr>
                        <m:e>
                          <m:r>
                            <a:rPr sz="900"/>
                            <m:t xml:space="preserve">x</m:t>
                          </m:r>
                        </m:e>
                        <m:sup>
                          <m:r>
                            <a:rPr sz="900"/>
                            <m:t xml:space="preserve">(i)</m:t>
                          </m:r>
                        </m:sup>
                      </m:sSup>
                      <m:r>
                        <a:rPr sz="900"/>
                        <m:t xml:space="preserve">),</m:t>
                      </m:r>
                      <m:sSup>
                        <m:sSupPr>
                          <m:ctrlPr/>
                        </m:sSupPr>
                        <m:e>
                          <m:r>
                            <a:rPr sz="900"/>
                            <m:t xml:space="preserve">y</m:t>
                          </m:r>
                        </m:e>
                        <m:sup>
                          <m:r>
                            <a:rPr sz="900"/>
                            <m:t xml:space="preserve">(i)</m:t>
                          </m:r>
                        </m:sup>
                      </m:sSup>
                      <m:r>
                        <a:rPr sz="900"/>
                        <m:t xml:space="preserve">)</m:t>
                      </m:r>
                    </m:oMath>
                  </m:oMathPara>
                </a14:m>
              </mc:Choice>
              <mc:Fallback>
                <a:r>
                  <a:rPr lang="en-US"/>
                  <a:t>L(w,b)=1m∑i=1mLCE(f(x(i)),y(i))</a:t>
                </a:r>
              </mc:Fallback>
            </mc:AlternateContent>
          </a:p>
        </p:txBody>
      </p:sp>
      <p:sp>
        <p:nvSpPr>
          <p:cNvPr id="15" name="Text 11"/>
          <p:cNvSpPr/>
          <p:nvPr/>
        </p:nvSpPr>
        <p:spPr>
          <a:xfrm>
            <a:off x="1341909" y="1910842"/>
            <a:ext cx="1144339" cy="315441"/>
          </a:xfrm>
          <a:prstGeom prst="rect">
            <a:avLst/>
          </a:prstGeom>
          <a:ln/>
        </p:spPr>
        <p:txBody>
          <a:bodyPr wrap="none" anchor="ctr"/>
          <a:lstStyle/>
          <a:p>
            <a:pPr>
              <a:defRPr>
                <a:solidFill>
                  <a:srgbClr val="F8FAFC"/>
                </a:solidFill>
              </a:defRPr>
            </a:pPr>
            <mc:AlternateContent>
              <mc:Choice Requires="a14"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/>
                        </m:sSubPr>
                        <m:e>
                          <m:r>
                            <a:rPr sz="900"/>
                            <m:t xml:space="preserve">θ</m:t>
                          </m:r>
                        </m:e>
                        <m:sub>
                          <m:r>
                            <a:rPr sz="900"/>
                            <m:t xml:space="preserve">t+1</m:t>
                          </m:r>
                        </m:sub>
                      </m:sSub>
                      <m:r>
                        <a:rPr sz="900"/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sz="900"/>
                            <m:t xml:space="preserve">θ</m:t>
                          </m:r>
                        </m:e>
                        <m:sub>
                          <m:r>
                            <a:rPr sz="900"/>
                            <m:t xml:space="preserve">t</m:t>
                          </m:r>
                        </m:sub>
                      </m:sSub>
                      <m:r>
                        <a:rPr sz="900"/>
                        <m:t xml:space="preserve">−η⋅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900"/>
                            <m:t xml:space="preserve">∂L</m:t>
                          </m:r>
                        </m:num>
                        <m:den>
                          <m:r>
                            <a:rPr sz="900"/>
                            <m:t xml:space="preserve">∂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sz="900"/>
                                <m:t xml:space="preserve">θ</m:t>
                              </m:r>
                            </m:e>
                            <m:sub>
                              <m:r>
                                <a:rPr sz="900"/>
                                <m:t xml:space="preserve">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θt+1=θt−η⋅∂L∂θt</a:t>
                </a:r>
              </mc:Fallback>
            </mc:AlternateContent>
          </a:p>
        </p:txBody>
      </p:sp>
      <p:sp>
        <p:nvSpPr>
          <p:cNvPr id="16" name="Text 12"/>
          <p:cNvSpPr/>
          <p:nvPr/>
        </p:nvSpPr>
        <p:spPr>
          <a:xfrm>
            <a:off x="671513" y="2447739"/>
            <a:ext cx="24852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zh-CN" sz="600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基于交叉熵损失通过反向传播执行权重更新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521494" y="2797783"/>
            <a:ext cx="2785281" cy="1374167"/>
          </a:xfrm>
          <a:prstGeom prst="roundRect">
            <a:avLst>
              <a:gd name="adj" fmla="val 7278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1513" y="2919226"/>
            <a:ext cx="24852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📊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优化算法效率对比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transition spd="med">
              <p:checker dir="horz"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1513" y="3147826"/>
          <a:ext cx="2485244" cy="1207294"/>
        </p:xfrm>
        <a:graphic>
          <a:graphicData uri="http://schemas.openxmlformats.org/drawingml/2006/table">
            <a:tbl>
              <a:tblPr/>
              <a:tblGrid>
                <a:gridCol w="765163"/>
                <a:gridCol w="559110"/>
                <a:gridCol w="559110"/>
                <a:gridCol w="601861"/>
              </a:tblGrid>
              <a:tr h="232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优化算法</a:t>
                      </a:r>
                      <a:endParaRPr lang="en-US" sz="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收敛速度</a:t>
                      </a:r>
                      <a:endParaRPr lang="en-US" sz="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内存占用</a:t>
                      </a:r>
                      <a:endParaRPr lang="en-US" sz="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综合评价</a:t>
                      </a:r>
                      <a:endParaRPr lang="en-US" sz="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SGD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较慢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极低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基准方案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Momentum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中等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极低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一般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Adam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极快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中等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优秀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RMSprop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较快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中等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良好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61C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3449650" y="757238"/>
            <a:ext cx="5172856" cy="2886075"/>
          </a:xfrm>
          <a:prstGeom prst="roundRect">
            <a:avLst>
              <a:gd name="adj" fmla="val 3465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99669" y="878681"/>
            <a:ext cx="48728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📈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训练与验证损失值收敛曲线</a:t>
            </a:r>
            <a:endParaRPr lang="en-US" sz="7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669" y="1107281"/>
            <a:ext cx="4872707" cy="241458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449650" y="3757613"/>
            <a:ext cx="1657573" cy="414338"/>
          </a:xfrm>
          <a:prstGeom prst="roundRect">
            <a:avLst>
              <a:gd name="adj" fmla="val 20690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556806" y="38504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3956" y="3907631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56844" y="3836194"/>
            <a:ext cx="3786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600" b="1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准确率</a:t>
            </a:r>
            <a:endParaRPr lang="en-US" sz="600" dirty="0"/>
          </a:p>
        </p:txBody>
      </p:sp>
      <p:sp>
        <p:nvSpPr>
          <p:cNvPr id="27" name="Text 20"/>
          <p:cNvSpPr/>
          <p:nvPr/>
        </p:nvSpPr>
        <p:spPr>
          <a:xfrm>
            <a:off x="3856844" y="3950494"/>
            <a:ext cx="3786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</a:rPr>
              <a:t>98.42%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207236" y="3757613"/>
            <a:ext cx="1657573" cy="414338"/>
          </a:xfrm>
          <a:prstGeom prst="roundRect">
            <a:avLst>
              <a:gd name="adj" fmla="val 20690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314392" y="38504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1542" y="3907631"/>
            <a:ext cx="114300" cy="1143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614429" y="3836194"/>
            <a:ext cx="3056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600" b="1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学习率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5614429" y="3950494"/>
            <a:ext cx="3056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</a:rPr>
              <a:t>0.001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6964821" y="3757613"/>
            <a:ext cx="1657573" cy="414338"/>
          </a:xfrm>
          <a:prstGeom prst="roundRect">
            <a:avLst>
              <a:gd name="adj" fmla="val 20690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071978" y="38504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43F5E">
              <a:alpha val="10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29128" y="3907631"/>
            <a:ext cx="114300" cy="1143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72015" y="3836194"/>
            <a:ext cx="4574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600" b="1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迭代周期</a:t>
            </a:r>
            <a:endParaRPr lang="en-US" sz="600" dirty="0"/>
          </a:p>
        </p:txBody>
      </p:sp>
      <p:sp>
        <p:nvSpPr>
          <p:cNvPr id="37" name="Text 28"/>
          <p:cNvSpPr/>
          <p:nvPr/>
        </p:nvSpPr>
        <p:spPr>
          <a:xfrm>
            <a:off x="7372015" y="3950494"/>
            <a:ext cx="4574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</a:rPr>
              <a:t>150 / 150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521494" y="4257675"/>
            <a:ext cx="8101013" cy="192881"/>
          </a:xfrm>
          <a:prstGeom prst="rect">
            <a:avLst/>
          </a:prstGeom>
          <a:noFill/>
          <a:ln/>
        </p:spPr>
      </p:sp>
      <p:sp>
        <p:nvSpPr>
          <p:cNvPr id="39" name="Shape 30"/>
          <p:cNvSpPr/>
          <p:nvPr/>
        </p:nvSpPr>
        <p:spPr>
          <a:xfrm>
            <a:off x="521494" y="4257675"/>
            <a:ext cx="8101013" cy="7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Text 31"/>
          <p:cNvSpPr/>
          <p:nvPr/>
        </p:nvSpPr>
        <p:spPr>
          <a:xfrm>
            <a:off x="521494" y="4336256"/>
            <a:ext cx="65845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zh-CN" sz="600" b="1" dirty="0">
                <a:solidFill>
                  <a:srgbClr val="E2E8F0"/>
                </a:solidFill>
                <a:latin typeface="Outfit" pitchFamily="34" charset="0"/>
                <a:ea typeface="PingFang SC" pitchFamily="34" charset="-122"/>
              </a:rPr>
              <a:t>算法优化诊断中心</a:t>
            </a:r>
            <a:endParaRPr lang="en-US" sz="600" dirty="0"/>
          </a:p>
        </p:txBody>
      </p:sp>
      <p:sp>
        <p:nvSpPr>
          <p:cNvPr id="41" name="Text 32"/>
          <p:cNvSpPr/>
          <p:nvPr/>
        </p:nvSpPr>
        <p:spPr>
          <a:xfrm>
            <a:off x="7881789" y="4336256"/>
            <a:ext cx="7407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zh-CN" sz="600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系统状态：最佳状态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0"/>
            <a:ext cx="8572500" cy="4629150"/>
          </a:xfrm>
          <a:prstGeom prst="roundRect">
            <a:avLst>
              <a:gd name="adj" fmla="val 3704"/>
            </a:avLst>
          </a:prstGeom>
          <a:solidFill>
            <a:srgbClr val="0F172A">
              <a:alpha val="4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  <a:effectLst>
            <a:glow rad="368300">
              <a:srgbClr val="000000">
                <a:alpha val="50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521494" y="178594"/>
            <a:ext cx="8101013" cy="464344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521494" y="635794"/>
            <a:ext cx="8101013" cy="7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5806" y="192881"/>
            <a:ext cx="17602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zh-CN" sz="1200" b="1" dirty="0">
                <a:solidFill>
                  <a:srgbClr val="FFFFFF"/>
                </a:solidFill>
                <a:latin typeface="Outfit" pitchFamily="34" charset="0"/>
                <a:ea typeface="PingFang SC" pitchFamily="34" charset="-122"/>
              </a:rPr>
              <a:t>反向传播优化控制流水线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94" y="221456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494" y="421481"/>
            <a:ext cx="197457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梯度计算流与自适应力矩 </a:t>
            </a:r>
            <a:r>
              <a:rPr lang="en-US" sz="700" b="1" dirty="0">
                <a:solidFill>
                  <a:srgbClr val="64748B"/>
                </a:solidFill>
                <a:latin typeface="Inter" pitchFamily="34" charset="0"/>
              </a:rPr>
              <a:t>(Adam) </a:t>
            </a:r>
            <a:r>
              <a:rPr lang="zh-CN" sz="700" b="1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状态更新机制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7825197" y="278606"/>
            <a:ext cx="797309" cy="171450"/>
          </a:xfrm>
          <a:prstGeom prst="roundRect">
            <a:avLst>
              <a:gd name="adj" fmla="val 50000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25197" y="278606"/>
            <a:ext cx="797309" cy="171450"/>
          </a:xfrm>
          <a:prstGeom prst="rect">
            <a:avLst/>
          </a:prstGeom>
          <a:noFill/>
          <a:ln/>
        </p:spPr>
        <p:txBody>
          <a:bodyPr wrap="none" lIns="81026" tIns="29464" rIns="81026" bIns="29464" rtlCol="0" anchor="t"/>
          <a:lstStyle/>
          <a:p>
            <a:pPr algn="r" indent="0" marL="0">
              <a:buNone/>
            </a:pPr>
            <a:r>
              <a:rPr lang="zh-CN" sz="600" b="1" dirty="0">
                <a:solidFill>
                  <a:srgbClr val="6366F1"/>
                </a:solidFill>
                <a:latin typeface="Inter" pitchFamily="34" charset="0"/>
                <a:ea typeface="PingFang SC" pitchFamily="34" charset="-122"/>
              </a:rPr>
              <a:t>流水线状态：就绪</a:t>
            </a:r>
            <a:endParaRPr lang="en-US" sz="600" dirty="0"/>
          </a:p>
        </p:txBody>
      </p:sp>
      <p:sp>
        <p:nvSpPr>
          <p:cNvPr id="11" name="Shape 7"/>
          <p:cNvSpPr/>
          <p:nvPr/>
        </p:nvSpPr>
        <p:spPr>
          <a:xfrm>
            <a:off x="521494" y="757238"/>
            <a:ext cx="8101013" cy="1601539"/>
          </a:xfrm>
          <a:prstGeom prst="roundRect">
            <a:avLst>
              <a:gd name="adj" fmla="val 6245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1513" y="850106"/>
            <a:ext cx="78009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⛓️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训练迭代控制环流 </a:t>
            </a: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(Computational Flow)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513" y="1193676"/>
            <a:ext cx="7800975" cy="9286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21494" y="2473077"/>
            <a:ext cx="3993356" cy="1698873"/>
          </a:xfrm>
          <a:prstGeom prst="roundRect">
            <a:avLst>
              <a:gd name="adj" fmla="val 5887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71513" y="2565946"/>
            <a:ext cx="36933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🧬 Adam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算法一阶</a:t>
            </a: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/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二阶矩更新细节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671513" y="2751683"/>
            <a:ext cx="3693319" cy="1327398"/>
          </a:xfrm>
          <a:prstGeom prst="roundRect">
            <a:avLst>
              <a:gd name="adj" fmla="val 5382"/>
            </a:avLst>
          </a:prstGeom>
          <a:solidFill>
            <a:srgbClr val="FFFFFF">
              <a:alpha val="1000"/>
            </a:srgbClr>
          </a:solidFill>
          <a:ln w="6350">
            <a:solidFill>
              <a:srgbClr val="FFFFFF">
                <a:alpha val="4000"/>
              </a:srgbClr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1587698" y="2963428"/>
            <a:ext cx="1860947" cy="237641"/>
          </a:xfrm>
          <a:prstGeom prst="rect">
            <a:avLst/>
          </a:prstGeom>
          <a:ln/>
        </p:spPr>
        <p:txBody>
          <a:bodyPr wrap="none" anchor="ctr"/>
          <a:lstStyle/>
          <a:p>
            <a:pPr>
              <a:defRPr>
                <a:solidFill>
                  <a:srgbClr val="F8FAFC"/>
                </a:solidFill>
              </a:defRPr>
            </a:pPr>
            <mc:AlternateContent>
              <mc:Choice Requires="a14"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g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m:rPr>
                              <m:sty m:val="p"/>
                            </m:rPr>
                            <a:rPr sz="650"/>
                            <m:t xml:space="preserve">∇</m:t>
                          </m:r>
                        </m:e>
                        <m:sub>
                          <m:r>
                            <a:rPr sz="650"/>
                            <m:t xml:space="preserve">θ</m:t>
                          </m:r>
                        </m:sub>
                      </m:sSub>
                      <m:r>
                        <a:rPr sz="650"/>
                        <m:t xml:space="preserve">L(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θ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)</m:t>
                      </m:r>
                      <m:r>
                        <a:rPr sz="650"/>
                        <m:t xml:space="preserve"> </m:t>
                      </m:r>
                      <m:r>
                        <a:rPr sz="650"/>
                        <m:t xml:space="preserve">,</m:t>
                      </m:r>
                      <m:r>
                        <a:rPr sz="650"/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θ</m:t>
                          </m:r>
                        </m:e>
                        <m:sub>
                          <m:r>
                            <a:rPr sz="650"/>
                            <m:t xml:space="preserve">t+1</m:t>
                          </m:r>
                        </m:sub>
                      </m:sSub>
                      <m:r>
                        <a:rPr sz="650"/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θ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650"/>
                            <m:t xml:space="preserve">η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>
                              <m:r>
                                <a:rPr sz="650"/>
                                <m:t xml:space="preserve"> </m:t>
                              </m:r>
                            </m:deg>
                            <m:e>
                              <m:sSub>
                                <m:sSubPr>
                                  <m:ctrlPr/>
                                </m:sSubPr>
                                <m:e>
                                  <m:limUpp>
                                    <m:e>
                                      <m:r>
                                        <a:rPr sz="650"/>
                                        <m:t xml:space="preserve">v</m:t>
                                      </m:r>
                                    </m:e>
                                    <m:lim>
                                      <m:r>
                                        <a:rPr sz="650"/>
                                        <m:t xml:space="preserve">^</m:t>
                                      </m:r>
                                    </m:lim>
                                  </m:limUpp>
                                </m:e>
                                <m:sub>
                                  <m:r>
                                    <a:rPr sz="650"/>
                                    <m:t xml:space="preserve">t</m:t>
                                  </m:r>
                                </m:sub>
                              </m:sSub>
                            </m:e>
                          </m:rad>
                          <m:r>
                            <a:rPr sz="650"/>
                            <m:t xml:space="preserve">+ϵ</m:t>
                          </m:r>
                        </m:den>
                      </m:f>
                      <m:sSub>
                        <m:sSubPr>
                          <m:ctrlPr/>
                        </m:sSubPr>
                        <m:e>
                          <m:limUpp>
                            <m:e>
                              <m:r>
                                <a:rPr sz="650"/>
                                <m:t xml:space="preserve">m</m:t>
                              </m:r>
                            </m:e>
                            <m:lim>
                              <m:r>
                                <a:rPr sz="650"/>
                                <m:t xml:space="preserve">^</m:t>
                              </m:r>
                            </m:lim>
                          </m:limUpp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/>
                  <a:t>gt=∇θL(θt),θt+1=θt−ηv^t+ϵm^t</a:t>
                </a:r>
              </mc:Fallback>
            </mc:AlternateContent>
          </a:p>
        </p:txBody>
      </p:sp>
      <p:sp>
        <p:nvSpPr>
          <p:cNvPr id="18" name="Text 13"/>
          <p:cNvSpPr/>
          <p:nvPr/>
        </p:nvSpPr>
        <p:spPr>
          <a:xfrm>
            <a:off x="1289224" y="3365599"/>
            <a:ext cx="2457896" cy="115639"/>
          </a:xfrm>
          <a:prstGeom prst="rect">
            <a:avLst/>
          </a:prstGeom>
          <a:ln/>
        </p:spPr>
        <p:txBody>
          <a:bodyPr wrap="none" anchor="ctr"/>
          <a:lstStyle/>
          <a:p>
            <a:pPr>
              <a:defRPr>
                <a:solidFill>
                  <a:srgbClr val="F8FAFC"/>
                </a:solidFill>
              </a:defRPr>
            </a:pPr>
            <mc:AlternateContent>
              <mc:Choice Requires="a14"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m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β</m:t>
                          </m:r>
                        </m:e>
                        <m:sub>
                          <m:r>
                            <a:rPr sz="650"/>
                            <m:t xml:space="preserve">1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m</m:t>
                          </m:r>
                        </m:e>
                        <m:sub>
                          <m:r>
                            <a:rPr sz="650"/>
                            <m:t xml:space="preserve">t−1</m:t>
                          </m:r>
                        </m:sub>
                      </m:sSub>
                      <m:r>
                        <a:rPr sz="650"/>
                        <m:t xml:space="preserve">+(1−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β</m:t>
                          </m:r>
                        </m:e>
                        <m:sub>
                          <m:r>
                            <a:rPr sz="650"/>
                            <m:t xml:space="preserve">1</m:t>
                          </m:r>
                        </m:sub>
                      </m:sSub>
                      <m:r>
                        <a:rPr sz="650"/>
                        <m:t xml:space="preserve">)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g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 </m:t>
                      </m:r>
                      <m:r>
                        <a:rPr sz="650"/>
                        <m:t xml:space="preserve">,</m:t>
                      </m:r>
                      <m:r>
                        <a:rPr sz="650"/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v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β</m:t>
                          </m:r>
                        </m:e>
                        <m:sub>
                          <m:r>
                            <a:rPr sz="650"/>
                            <m:t xml:space="preserve">2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v</m:t>
                          </m:r>
                        </m:e>
                        <m:sub>
                          <m:r>
                            <a:rPr sz="650"/>
                            <m:t xml:space="preserve">t−1</m:t>
                          </m:r>
                        </m:sub>
                      </m:sSub>
                      <m:r>
                        <a:rPr sz="650"/>
                        <m:t xml:space="preserve">+(1−</m:t>
                      </m:r>
                      <m:sSub>
                        <m:sSubPr>
                          <m:ctrlPr/>
                        </m:sSubPr>
                        <m:e>
                          <m:r>
                            <a:rPr sz="650"/>
                            <m:t xml:space="preserve">β</m:t>
                          </m:r>
                        </m:e>
                        <m:sub>
                          <m:r>
                            <a:rPr sz="650"/>
                            <m:t xml:space="preserve">2</m:t>
                          </m:r>
                        </m:sub>
                      </m:sSub>
                      <m:r>
                        <a:rPr sz="650"/>
                        <m:t xml:space="preserve">)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sz="650"/>
                            <m:t xml:space="preserve">g</m:t>
                          </m:r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  <m:sup>
                          <m:r>
                            <a:rPr sz="650"/>
                            <m:t xml:space="preserve">2</m:t>
                          </m:r>
                        </m:sup>
                      </m:sSubSup>
                    </m:oMath>
                  </m:oMathPara>
                </a14:m>
              </mc:Choice>
              <mc:Fallback>
                <a:r>
                  <a:rPr lang="en-US"/>
                  <a:t>mt=β1mt−1+(1−β1)gt,vt=β2vt−1+(1−β2)gt2</a:t>
                </a:r>
              </mc:Fallback>
            </mc:AlternateContent>
          </a:p>
        </p:txBody>
      </p:sp>
      <p:sp>
        <p:nvSpPr>
          <p:cNvPr id="19" name="Text 14"/>
          <p:cNvSpPr/>
          <p:nvPr/>
        </p:nvSpPr>
        <p:spPr>
          <a:xfrm>
            <a:off x="1833042" y="3645768"/>
            <a:ext cx="1370261" cy="221568"/>
          </a:xfrm>
          <a:prstGeom prst="rect">
            <a:avLst/>
          </a:prstGeom>
          <a:ln/>
        </p:spPr>
        <p:txBody>
          <a:bodyPr wrap="none" anchor="ctr"/>
          <a:lstStyle/>
          <a:p>
            <a:pPr>
              <a:defRPr>
                <a:solidFill>
                  <a:srgbClr val="F8FAFC"/>
                </a:solidFill>
              </a:defRPr>
            </a:pPr>
            <mc:AlternateContent>
              <mc:Choice Requires="a14"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/>
                        </m:sSubPr>
                        <m:e>
                          <m:limUpp>
                            <m:e>
                              <m:r>
                                <a:rPr sz="650"/>
                                <m:t xml:space="preserve">m</m:t>
                              </m:r>
                            </m:e>
                            <m:lim>
                              <m:r>
                                <a:rPr sz="650"/>
                                <m:t xml:space="preserve">^</m:t>
                              </m:r>
                            </m:lim>
                          </m:limUpp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/>
                            </m:sSubPr>
                            <m:e>
                              <m:r>
                                <a:rPr sz="650"/>
                                <m:t xml:space="preserve">m</m:t>
                              </m:r>
                            </m:e>
                            <m:sub>
                              <m:r>
                                <a:rPr sz="650"/>
                                <m:t xml:space="preserve">t</m:t>
                              </m:r>
                            </m:sub>
                          </m:sSub>
                        </m:num>
                        <m:den>
                          <m:r>
                            <a:rPr sz="650"/>
                            <m:t xml:space="preserve">1−</m:t>
                          </m:r>
                          <m:sSubSup>
                            <m:sSubSupPr>
                              <m:ctrlPr/>
                            </m:sSubSupPr>
                            <m:e>
                              <m:r>
                                <a:rPr sz="650"/>
                                <m:t xml:space="preserve">β</m:t>
                              </m:r>
                            </m:e>
                            <m:sub>
                              <m:r>
                                <a:rPr sz="650"/>
                                <m:t xml:space="preserve">1</m:t>
                              </m:r>
                            </m:sub>
                            <m:sup>
                              <m:r>
                                <a:rPr sz="650"/>
                                <m:t xml:space="preserve">t</m:t>
                              </m:r>
                            </m:sup>
                          </m:sSubSup>
                        </m:den>
                      </m:f>
                      <m:r>
                        <a:rPr sz="650"/>
                        <m:t xml:space="preserve"> </m:t>
                      </m:r>
                      <m:r>
                        <a:rPr sz="650"/>
                        <m:t xml:space="preserve">,</m:t>
                      </m:r>
                      <m:r>
                        <a:rPr sz="650"/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limUpp>
                            <m:e>
                              <m:r>
                                <a:rPr sz="650"/>
                                <m:t xml:space="preserve">v</m:t>
                              </m:r>
                            </m:e>
                            <m:lim>
                              <m:r>
                                <a:rPr sz="650"/>
                                <m:t xml:space="preserve">^</m:t>
                              </m:r>
                            </m:lim>
                          </m:limUpp>
                        </m:e>
                        <m:sub>
                          <m:r>
                            <a:rPr sz="650"/>
                            <m:t xml:space="preserve">t</m:t>
                          </m:r>
                        </m:sub>
                      </m:sSub>
                      <m:r>
                        <a:rPr sz="650"/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/>
                            </m:sSubPr>
                            <m:e>
                              <m:r>
                                <a:rPr sz="650"/>
                                <m:t xml:space="preserve">v</m:t>
                              </m:r>
                            </m:e>
                            <m:sub>
                              <m:r>
                                <a:rPr sz="650"/>
                                <m:t xml:space="preserve">t</m:t>
                              </m:r>
                            </m:sub>
                          </m:sSub>
                        </m:num>
                        <m:den>
                          <m:r>
                            <a:rPr sz="650"/>
                            <m:t xml:space="preserve">1−</m:t>
                          </m:r>
                          <m:sSubSup>
                            <m:sSubSupPr>
                              <m:ctrlPr/>
                            </m:sSubSupPr>
                            <m:e>
                              <m:r>
                                <a:rPr sz="650"/>
                                <m:t xml:space="preserve">β</m:t>
                              </m:r>
                            </m:e>
                            <m:sub>
                              <m:r>
                                <a:rPr sz="650"/>
                                <m:t xml:space="preserve">2</m:t>
                              </m:r>
                            </m:sub>
                            <m:sup>
                              <m:r>
                                <a:rPr sz="650"/>
                                <m:t xml:space="preserve">t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m^t=mt1−β1t,v^t=vt1−β2t</a:t>
                </a:r>
              </mc:Fallback>
            </mc:AlternateContent>
          </a:p>
        </p:txBody>
      </p:sp>
      <p:sp>
        <p:nvSpPr>
          <p:cNvPr id="20" name="Shape 15"/>
          <p:cNvSpPr/>
          <p:nvPr/>
        </p:nvSpPr>
        <p:spPr>
          <a:xfrm>
            <a:off x="4629150" y="2473077"/>
            <a:ext cx="3993356" cy="1698873"/>
          </a:xfrm>
          <a:prstGeom prst="roundRect">
            <a:avLst>
              <a:gd name="adj" fmla="val 5887"/>
            </a:avLst>
          </a:prstGeom>
          <a:solidFill>
            <a:srgbClr val="111827">
              <a:alpha val="6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79169" y="2565946"/>
            <a:ext cx="36933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💻 Adam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核心参数更新步骤 </a:t>
            </a: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(PyTorch </a:t>
            </a:r>
            <a:r>
              <a:rPr lang="zh-CN" sz="700" b="1" dirty="0">
                <a:solidFill>
                  <a:srgbClr val="E2E8F0"/>
                </a:solidFill>
                <a:latin typeface="Inter" pitchFamily="34" charset="0"/>
                <a:ea typeface="PingFang SC" pitchFamily="34" charset="-122"/>
              </a:rPr>
              <a:t>逻辑</a:t>
            </a:r>
            <a:r>
              <a:rPr lang="en-US" sz="700" b="1" dirty="0">
                <a:solidFill>
                  <a:srgbClr val="E2E8F0"/>
                </a:solidFill>
                <a:latin typeface="Inter" pitchFamily="34" charset="0"/>
              </a:rPr>
              <a:t>)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4779169" y="2751683"/>
            <a:ext cx="3693319" cy="1327398"/>
          </a:xfrm>
          <a:prstGeom prst="roundRect">
            <a:avLst>
              <a:gd name="adj" fmla="val 5382"/>
            </a:avLst>
          </a:prstGeom>
          <a:solidFill>
            <a:srgbClr val="05070C"/>
          </a:solidFill>
          <a:ln w="635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72038" y="3064111"/>
            <a:ext cx="3507581" cy="70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00" b="1" dirty="0">
                <a:solidFill>
                  <a:srgbClr val="F43F5E"/>
                </a:solidFill>
                <a:latin typeface="Menlo" pitchFamily="34" charset="0"/>
              </a:rPr>
              <a:t>for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t </a:t>
            </a:r>
            <a:r>
              <a:rPr lang="en-US" sz="600" b="1" dirty="0">
                <a:solidFill>
                  <a:srgbClr val="F43F5E"/>
                </a:solidFill>
                <a:latin typeface="Menlo" pitchFamily="34" charset="0"/>
              </a:rPr>
              <a:t>in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</a:t>
            </a:r>
            <a:r>
              <a:rPr lang="en-US" sz="600" dirty="0">
                <a:solidFill>
                  <a:srgbClr val="818CF8"/>
                </a:solidFill>
                <a:latin typeface="Menlo" pitchFamily="34" charset="0"/>
              </a:rPr>
              <a:t>range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(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1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, epochs + 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1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): g = grad(loss, theta) </a:t>
            </a:r>
            <a:r>
              <a:rPr lang="en-US" sz="600" i="1" dirty="0">
                <a:solidFill>
                  <a:srgbClr val="475569"/>
                </a:solidFill>
                <a:latin typeface="Menlo" pitchFamily="34" charset="0"/>
              </a:rPr>
              <a:t># </a:t>
            </a:r>
            <a:r>
              <a:rPr lang="zh-CN" sz="60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计算当前梯度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m = b1 * m + (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1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- b1) * g </a:t>
            </a:r>
            <a:r>
              <a:rPr lang="en-US" sz="600" i="1" dirty="0">
                <a:solidFill>
                  <a:srgbClr val="475569"/>
                </a:solidFill>
                <a:latin typeface="Menlo" pitchFamily="34" charset="0"/>
              </a:rPr>
              <a:t># </a:t>
            </a:r>
            <a:r>
              <a:rPr lang="zh-CN" sz="60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一阶动量更新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v = b2 * v + (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1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- b2) * (g ** 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2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) </a:t>
            </a:r>
            <a:r>
              <a:rPr lang="en-US" sz="600" i="1" dirty="0">
                <a:solidFill>
                  <a:srgbClr val="475569"/>
                </a:solidFill>
                <a:latin typeface="Menlo" pitchFamily="34" charset="0"/>
              </a:rPr>
              <a:t># </a:t>
            </a:r>
            <a:r>
              <a:rPr lang="zh-CN" sz="60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二阶动量更新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m_hat = m / (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1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- b1 ** t) </a:t>
            </a:r>
            <a:r>
              <a:rPr lang="en-US" sz="600" i="1" dirty="0">
                <a:solidFill>
                  <a:srgbClr val="475569"/>
                </a:solidFill>
                <a:latin typeface="Menlo" pitchFamily="34" charset="0"/>
              </a:rPr>
              <a:t># </a:t>
            </a:r>
            <a:r>
              <a:rPr lang="zh-CN" sz="60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一阶偏差修正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v_hat = v / (</a:t>
            </a:r>
            <a:r>
              <a:rPr lang="en-US" sz="600" dirty="0">
                <a:solidFill>
                  <a:srgbClr val="38BDF8"/>
                </a:solidFill>
                <a:latin typeface="Menlo" pitchFamily="34" charset="0"/>
              </a:rPr>
              <a:t>1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- b2 ** t) </a:t>
            </a:r>
            <a:r>
              <a:rPr lang="en-US" sz="600" i="1" dirty="0">
                <a:solidFill>
                  <a:srgbClr val="475569"/>
                </a:solidFill>
                <a:latin typeface="Menlo" pitchFamily="34" charset="0"/>
              </a:rPr>
              <a:t># </a:t>
            </a:r>
            <a:r>
              <a:rPr lang="zh-CN" sz="60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二阶偏差修正</a:t>
            </a:r>
            <a:r>
              <a:rPr lang="en-US" sz="600" dirty="0">
                <a:solidFill>
                  <a:srgbClr val="CBD5E1"/>
                </a:solidFill>
                <a:latin typeface="Menlo" pitchFamily="34" charset="0"/>
              </a:rPr>
              <a:t> theta -= eta * m_hat / (np.sqrt(v_hat) + eps) </a:t>
            </a:r>
            <a:r>
              <a:rPr lang="en-US" sz="600" i="1" dirty="0">
                <a:solidFill>
                  <a:srgbClr val="475569"/>
                </a:solidFill>
                <a:latin typeface="Menlo" pitchFamily="34" charset="0"/>
              </a:rPr>
              <a:t># </a:t>
            </a:r>
            <a:r>
              <a:rPr lang="zh-CN" sz="60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权重参数更新</a:t>
            </a:r>
            <a:endParaRPr lang="en-US" sz="600" dirty="0"/>
          </a:p>
        </p:txBody>
      </p:sp>
      <p:sp>
        <p:nvSpPr>
          <p:cNvPr id="24" name="Shape 19"/>
          <p:cNvSpPr/>
          <p:nvPr/>
        </p:nvSpPr>
        <p:spPr>
          <a:xfrm>
            <a:off x="521494" y="4257675"/>
            <a:ext cx="8101013" cy="192881"/>
          </a:xfrm>
          <a:prstGeom prst="rect">
            <a:avLst/>
          </a:prstGeom>
          <a:noFill/>
          <a:ln/>
        </p:spPr>
      </p:sp>
      <p:sp>
        <p:nvSpPr>
          <p:cNvPr id="25" name="Shape 20"/>
          <p:cNvSpPr/>
          <p:nvPr/>
        </p:nvSpPr>
        <p:spPr>
          <a:xfrm>
            <a:off x="521494" y="4257675"/>
            <a:ext cx="8101013" cy="7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521494" y="4336256"/>
            <a:ext cx="65845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zh-CN" sz="600" b="1" dirty="0">
                <a:solidFill>
                  <a:srgbClr val="E2E8F0"/>
                </a:solidFill>
                <a:latin typeface="Outfit" pitchFamily="34" charset="0"/>
                <a:ea typeface="PingFang SC" pitchFamily="34" charset="-122"/>
              </a:rPr>
              <a:t>算法优化诊断中心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>
            <a:off x="7799524" y="4336256"/>
            <a:ext cx="8229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zh-CN" sz="600" dirty="0">
                <a:solidFill>
                  <a:srgbClr val="64748B"/>
                </a:solidFill>
                <a:latin typeface="Inter" pitchFamily="34" charset="0"/>
                <a:ea typeface="PingFang SC" pitchFamily="34" charset="-122"/>
              </a:rPr>
              <a:t>数据处理流：状态最佳</a:t>
            </a:r>
            <a:endParaRPr lang="en-US" sz="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ythrough dir="in" hasBounce="0"/>
      </p:transition>
    </mc:Choice>
    <mc:Fallback>
      <p:transition spd="med">
        <p:zoom dir="in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2026-08-11T03:34:57Z</dcterms:created>
  <dcterms:modified xsi:type="dcterms:W3CDTF">2026-08-11T03:34:57Z</dcterms:modified>
</cp:coreProperties>
</file>