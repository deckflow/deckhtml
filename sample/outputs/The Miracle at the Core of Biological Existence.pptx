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sldSz cx="9144000" cy="5143500"/>
  <p:notesSz cx="5143500" cy="9144000"/>
  <p:embeddedFontLst>
    <p:embeddedFont>
      <p:font typeface="Font Awesome 6 Free Solid" pitchFamily="3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7F4EB"/>
              </a:gs>
              <a:gs pos="100000">
                <a:srgbClr val="E8E4F7"/>
              </a:gs>
            </a:gsLst>
            <a:lin ang="2700000" scaled="1"/>
          </a:gradFill>
          <a:ln/>
          <a:effectLst>
            <a:glow rad="736600">
              <a:srgbClr val="000000">
                <a:alpha val="50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5314950" y="-514350"/>
            <a:ext cx="4286250" cy="4286250"/>
          </a:xfrm>
          <a:prstGeom prst="ellipse">
            <a:avLst/>
          </a:prstGeom>
          <a:gradFill>
            <a:gsLst>
              <a:gs pos="0">
                <a:srgbClr val="1FB7D6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2"/>
          <p:cNvSpPr/>
          <p:nvPr/>
        </p:nvSpPr>
        <p:spPr>
          <a:xfrm>
            <a:off x="5060007" y="392906"/>
            <a:ext cx="4357688" cy="4357688"/>
          </a:xfrm>
          <a:prstGeom prst="roundRect">
            <a:avLst>
              <a:gd name="adj" fmla="val 36885"/>
            </a:avLst>
          </a:prstGeom>
          <a:gradFill>
            <a:gsLst>
              <a:gs pos="0">
                <a:srgbClr val="E8E4F7">
                  <a:alpha val="70000"/>
                </a:srgbClr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blurRad="589280" dist="176784" dir="16200000" algn="ctr" rotWithShape="0">
              <a:srgbClr val="000000">
                <a:alpha val="70000"/>
              </a:srgbClr>
            </a:outerShdw>
            <a:softEdge rad="1266952"/>
          </a:effectLst>
        </p:spPr>
      </p:sp>
      <p:sp>
        <p:nvSpPr>
          <p:cNvPr id="6" name="Shape 3"/>
          <p:cNvSpPr/>
          <p:nvPr/>
        </p:nvSpPr>
        <p:spPr>
          <a:xfrm>
            <a:off x="6595914" y="821531"/>
            <a:ext cx="85725" cy="85725"/>
          </a:xfrm>
          <a:prstGeom prst="ellipse">
            <a:avLst/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7" name="Shape 4"/>
          <p:cNvSpPr/>
          <p:nvPr/>
        </p:nvSpPr>
        <p:spPr>
          <a:xfrm>
            <a:off x="7796064" y="821531"/>
            <a:ext cx="85725" cy="85725"/>
          </a:xfrm>
          <a:prstGeom prst="ellipse">
            <a:avLst/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8" name="dh-grp-dh-animroot-1"/>
          <p:cNvSpPr/>
          <p:nvPr/>
        </p:nvSpPr>
        <p:spPr>
          <a:xfrm>
            <a:off x="6595914" y="857250"/>
            <a:ext cx="1285875" cy="14288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6633110" y="1012246"/>
            <a:ext cx="83518" cy="96826"/>
          </a:xfrm>
          <a:prstGeom prst="ellipse">
            <a:avLst/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7727743" y="1119437"/>
            <a:ext cx="72459" cy="89679"/>
          </a:xfrm>
          <a:prstGeom prst="ellipse">
            <a:avLst/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11" name="dh-grp-dh-animroot-1"/>
          <p:cNvSpPr/>
          <p:nvPr/>
        </p:nvSpPr>
        <p:spPr>
          <a:xfrm>
            <a:off x="6633110" y="1049377"/>
            <a:ext cx="1167091" cy="125329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12" name="Shape 9"/>
          <p:cNvSpPr/>
          <p:nvPr/>
        </p:nvSpPr>
        <p:spPr>
          <a:xfrm>
            <a:off x="6794972" y="1229021"/>
            <a:ext cx="62945" cy="104300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13" name="Shape 10"/>
          <p:cNvSpPr/>
          <p:nvPr/>
        </p:nvSpPr>
        <p:spPr>
          <a:xfrm>
            <a:off x="7576829" y="1392081"/>
            <a:ext cx="48642" cy="90341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14" name="dh-grp-dh-animroot-1"/>
          <p:cNvSpPr/>
          <p:nvPr/>
        </p:nvSpPr>
        <p:spPr>
          <a:xfrm>
            <a:off x="6794972" y="1267384"/>
            <a:ext cx="830499" cy="181622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15" name="Shape 12"/>
          <p:cNvSpPr/>
          <p:nvPr/>
        </p:nvSpPr>
        <p:spPr>
          <a:xfrm>
            <a:off x="7056598" y="1476403"/>
            <a:ext cx="26281" cy="106441"/>
          </a:xfrm>
          <a:prstGeom prst="roundRect">
            <a:avLst>
              <a:gd name="adj" fmla="val 49999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16" name="Shape 13"/>
          <p:cNvSpPr/>
          <p:nvPr/>
        </p:nvSpPr>
        <p:spPr>
          <a:xfrm>
            <a:off x="7372967" y="1641697"/>
            <a:ext cx="18983" cy="88787"/>
          </a:xfrm>
          <a:prstGeom prst="roundRect">
            <a:avLst>
              <a:gd name="adj" fmla="val 50001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17" name="dh-grp-dh-animroot-1"/>
          <p:cNvSpPr/>
          <p:nvPr/>
        </p:nvSpPr>
        <p:spPr>
          <a:xfrm>
            <a:off x="7056598" y="1515522"/>
            <a:ext cx="335353" cy="182100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18" name="Shape 15"/>
          <p:cNvSpPr/>
          <p:nvPr/>
        </p:nvSpPr>
        <p:spPr>
          <a:xfrm>
            <a:off x="7136301" y="1748708"/>
            <a:ext cx="17692" cy="103394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19" name="Shape 16"/>
          <p:cNvSpPr/>
          <p:nvPr/>
        </p:nvSpPr>
        <p:spPr>
          <a:xfrm>
            <a:off x="7136301" y="1875164"/>
            <a:ext cx="12698" cy="86308"/>
          </a:xfrm>
          <a:prstGeom prst="roundRect">
            <a:avLst>
              <a:gd name="adj" fmla="val 50001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20" name="dh-grp-dh-animroot-1"/>
          <p:cNvSpPr/>
          <p:nvPr/>
        </p:nvSpPr>
        <p:spPr>
          <a:xfrm>
            <a:off x="7136301" y="1787900"/>
            <a:ext cx="225048" cy="140761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1" name="Shape 18"/>
          <p:cNvSpPr/>
          <p:nvPr/>
        </p:nvSpPr>
        <p:spPr>
          <a:xfrm>
            <a:off x="6895402" y="2031887"/>
            <a:ext cx="56706" cy="97245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22" name="Shape 19"/>
          <p:cNvSpPr/>
          <p:nvPr/>
        </p:nvSpPr>
        <p:spPr>
          <a:xfrm>
            <a:off x="6895402" y="2101719"/>
            <a:ext cx="43043" cy="84142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23" name="dh-grp-dh-animroot-1"/>
          <p:cNvSpPr/>
          <p:nvPr/>
        </p:nvSpPr>
        <p:spPr>
          <a:xfrm>
            <a:off x="6895402" y="2070449"/>
            <a:ext cx="741570" cy="82147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4" name="Shape 21"/>
          <p:cNvSpPr/>
          <p:nvPr/>
        </p:nvSpPr>
        <p:spPr>
          <a:xfrm>
            <a:off x="6706030" y="2309937"/>
            <a:ext cx="80893" cy="90838"/>
          </a:xfrm>
          <a:prstGeom prst="ellipse">
            <a:avLst/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25" name="Shape 22"/>
          <p:cNvSpPr/>
          <p:nvPr/>
        </p:nvSpPr>
        <p:spPr>
          <a:xfrm>
            <a:off x="6706030" y="2331104"/>
            <a:ext cx="68376" cy="83415"/>
          </a:xfrm>
          <a:prstGeom prst="ellipse">
            <a:avLst/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26" name="dh-grp-dh-animroot-1"/>
          <p:cNvSpPr/>
          <p:nvPr/>
        </p:nvSpPr>
        <p:spPr>
          <a:xfrm>
            <a:off x="6706030" y="2347339"/>
            <a:ext cx="1115855" cy="33000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603346" y="2571750"/>
            <a:ext cx="86663" cy="86403"/>
          </a:xfrm>
          <a:prstGeom prst="ellipse">
            <a:avLst/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28" name="Shape 25"/>
          <p:cNvSpPr/>
          <p:nvPr/>
        </p:nvSpPr>
        <p:spPr>
          <a:xfrm>
            <a:off x="6603346" y="2571750"/>
            <a:ext cx="84162" cy="85146"/>
          </a:xfrm>
          <a:prstGeom prst="ellipse">
            <a:avLst/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29" name="dh-grp-dh-animroot-1"/>
          <p:cNvSpPr/>
          <p:nvPr/>
        </p:nvSpPr>
        <p:spPr>
          <a:xfrm>
            <a:off x="6603346" y="2607191"/>
            <a:ext cx="1281060" cy="14961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6615498" y="2814315"/>
            <a:ext cx="76119" cy="84467"/>
          </a:xfrm>
          <a:prstGeom prst="ellipse">
            <a:avLst/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31" name="Shape 28"/>
          <p:cNvSpPr/>
          <p:nvPr/>
        </p:nvSpPr>
        <p:spPr>
          <a:xfrm>
            <a:off x="6615498" y="2828634"/>
            <a:ext cx="85392" cy="89535"/>
          </a:xfrm>
          <a:prstGeom prst="ellipse">
            <a:avLst/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32" name="dh-grp-dh-animroot-1"/>
          <p:cNvSpPr/>
          <p:nvPr/>
        </p:nvSpPr>
        <p:spPr>
          <a:xfrm>
            <a:off x="6615498" y="2848967"/>
            <a:ext cx="1209476" cy="32350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33" name="Shape 30"/>
          <p:cNvSpPr/>
          <p:nvPr/>
        </p:nvSpPr>
        <p:spPr>
          <a:xfrm>
            <a:off x="6753323" y="3041893"/>
            <a:ext cx="54012" cy="85025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34" name="Shape 31"/>
          <p:cNvSpPr/>
          <p:nvPr/>
        </p:nvSpPr>
        <p:spPr>
          <a:xfrm>
            <a:off x="6753323" y="3101003"/>
            <a:ext cx="68516" cy="96347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35" name="dh-grp-dh-animroot-1"/>
          <p:cNvSpPr/>
          <p:nvPr/>
        </p:nvSpPr>
        <p:spPr>
          <a:xfrm>
            <a:off x="6753323" y="3075474"/>
            <a:ext cx="912955" cy="83730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6998633" y="3263353"/>
            <a:ext cx="25187" cy="87137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37" name="Shape 34"/>
          <p:cNvSpPr/>
          <p:nvPr/>
        </p:nvSpPr>
        <p:spPr>
          <a:xfrm>
            <a:off x="6998633" y="3381171"/>
            <a:ext cx="34562" cy="103615"/>
          </a:xfrm>
          <a:prstGeom prst="roundRect">
            <a:avLst>
              <a:gd name="adj" fmla="val 50001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38" name="dh-grp-dh-animroot-1"/>
          <p:cNvSpPr/>
          <p:nvPr/>
        </p:nvSpPr>
        <p:spPr>
          <a:xfrm>
            <a:off x="6998633" y="3296287"/>
            <a:ext cx="442973" cy="149481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39" name="Shape 36"/>
          <p:cNvSpPr/>
          <p:nvPr/>
        </p:nvSpPr>
        <p:spPr>
          <a:xfrm>
            <a:off x="7187430" y="3489584"/>
            <a:ext cx="6362" cy="89725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40" name="Shape 37"/>
          <p:cNvSpPr/>
          <p:nvPr/>
        </p:nvSpPr>
        <p:spPr>
          <a:xfrm>
            <a:off x="7291502" y="3656135"/>
            <a:ext cx="8898" cy="108408"/>
          </a:xfrm>
          <a:prstGeom prst="roundRect">
            <a:avLst>
              <a:gd name="adj" fmla="val 49999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41" name="dh-grp-dh-animroot-1"/>
          <p:cNvSpPr/>
          <p:nvPr/>
        </p:nvSpPr>
        <p:spPr>
          <a:xfrm>
            <a:off x="7187430" y="3522364"/>
            <a:ext cx="112970" cy="202942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42" name="Shape 39"/>
          <p:cNvSpPr/>
          <p:nvPr/>
        </p:nvSpPr>
        <p:spPr>
          <a:xfrm>
            <a:off x="6940631" y="3731512"/>
            <a:ext cx="37247" cy="91590"/>
          </a:xfrm>
          <a:prstGeom prst="roundRect">
            <a:avLst>
              <a:gd name="adj" fmla="val 49999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43" name="Shape 40"/>
          <p:cNvSpPr/>
          <p:nvPr/>
        </p:nvSpPr>
        <p:spPr>
          <a:xfrm>
            <a:off x="7537636" y="3912472"/>
            <a:ext cx="49853" cy="108082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44" name="dh-grp-dh-animroot-1"/>
          <p:cNvSpPr/>
          <p:nvPr/>
        </p:nvSpPr>
        <p:spPr>
          <a:xfrm>
            <a:off x="6940631" y="3764648"/>
            <a:ext cx="646858" cy="217168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45" name="Shape 42"/>
          <p:cNvSpPr/>
          <p:nvPr/>
        </p:nvSpPr>
        <p:spPr>
          <a:xfrm>
            <a:off x="6738043" y="3998296"/>
            <a:ext cx="63915" cy="91453"/>
          </a:xfrm>
          <a:prstGeom prst="roundRect">
            <a:avLst>
              <a:gd name="adj" fmla="val 50000"/>
            </a:avLst>
          </a:prstGeom>
          <a:solidFill>
            <a:srgbClr val="1FB7D6"/>
          </a:solidFill>
          <a:ln/>
          <a:effectLst>
            <a:glow rad="110490">
              <a:srgbClr val="1FB7D6">
                <a:alpha val="50000"/>
              </a:srgbClr>
            </a:glow>
          </a:effectLst>
        </p:spPr>
      </p:sp>
      <p:sp>
        <p:nvSpPr>
          <p:cNvPr id="46" name="Shape 43"/>
          <p:cNvSpPr/>
          <p:nvPr/>
        </p:nvSpPr>
        <p:spPr>
          <a:xfrm>
            <a:off x="7716668" y="4142198"/>
            <a:ext cx="77511" cy="101789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/>
          <a:effectLst>
            <a:glow rad="110490">
              <a:srgbClr val="E85D75">
                <a:alpha val="50000"/>
              </a:srgbClr>
            </a:glow>
          </a:effectLst>
        </p:spPr>
      </p:sp>
      <p:sp>
        <p:nvSpPr>
          <p:cNvPr id="47" name="dh-grp-dh-animroot-1"/>
          <p:cNvSpPr/>
          <p:nvPr/>
        </p:nvSpPr>
        <p:spPr>
          <a:xfrm>
            <a:off x="6738043" y="4032262"/>
            <a:ext cx="1056136" cy="174062"/>
          </a:xfrm>
          <a:prstGeom prst="rect">
            <a:avLst/>
          </a:prstGeom>
          <a:gradFill>
            <a:gsLst>
              <a:gs pos="0">
                <a:srgbClr val="1FB7D6">
                  <a:alpha val="40000"/>
                </a:srgbClr>
              </a:gs>
              <a:gs pos="100000">
                <a:srgbClr val="E85D75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48" name="dh-grp-dh-animroot-2"/>
          <p:cNvSpPr/>
          <p:nvPr/>
        </p:nvSpPr>
        <p:spPr>
          <a:xfrm>
            <a:off x="6193520" y="4661297"/>
            <a:ext cx="209055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700" b="1" i="1" dirty="0">
                <a:solidFill>
                  <a:srgbClr val="172033"/>
                </a:solidFill>
                <a:latin typeface="Arial" pitchFamily="34" charset="0"/>
              </a:rPr>
              <a:t>FIG. 01: SYMBOLIC HELICAL ARCHITECTURE</a:t>
            </a:r>
            <a:endParaRPr lang="en-US" sz="700" dirty="0"/>
          </a:p>
        </p:txBody>
      </p:sp>
      <p:grpSp>
        <p:nvGrpSpPr>
          <p:cNvPr id="66" name="dh-grp-dh-animroot-3"/>
          <p:cNvGrpSpPr/>
          <p:nvPr/>
        </p:nvGrpSpPr>
        <p:grpSpPr>
          <a:xfrm>
            <a:off x="571500" y="342900"/>
            <a:ext cx="4476676" cy="139303"/>
            <a:chOff x="0" y="0"/>
            <a:chExt cx="4476676" cy="139303"/>
          </a:xfrm>
        </p:grpSpPr>
        <p:sp>
          <p:nvSpPr>
            <p:cNvPr id="49" name=""/>
            <p:cNvSpPr/>
            <p:nvPr/>
          </p:nvSpPr>
          <p:spPr>
            <a:xfrm>
              <a:off x="0" y="0"/>
              <a:ext cx="2312343" cy="1393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50000"/>
                </a:lnSpc>
                <a:buNone/>
              </a:pPr>
              <a:r>
                <a:rPr lang="en-US" sz="700" b="1" spc="153" kern="0" dirty="0">
                  <a:solidFill>
                    <a:srgbClr val="E85D75"/>
                  </a:solidFill>
                  <a:latin typeface="Arial" pitchFamily="34" charset="0"/>
                </a:rPr>
                <a:t>PREFACE | THE ARCHITECTURE OF LIFE</a:t>
              </a:r>
              <a:endParaRPr lang="en-US" sz="700" dirty="0"/>
            </a:p>
          </p:txBody>
        </p:sp>
        <p:sp>
          <p:nvSpPr>
            <p:cNvPr id="50" name=""/>
            <p:cNvSpPr/>
            <p:nvPr/>
          </p:nvSpPr>
          <p:spPr>
            <a:xfrm>
              <a:off x="2426643" y="66080"/>
              <a:ext cx="2050033" cy="7144"/>
            </a:xfrm>
            <a:prstGeom prst="rect">
              <a:avLst/>
            </a:prstGeom>
            <a:solidFill>
              <a:srgbClr val="172033">
                <a:alpha val="12000"/>
              </a:srgbClr>
            </a:solidFill>
            <a:ln/>
          </p:spPr>
        </p:sp>
      </p:grpSp>
      <p:sp>
        <p:nvSpPr>
          <p:cNvPr id="51" name="dh-grp-dh-animroot-4"/>
          <p:cNvSpPr/>
          <p:nvPr/>
        </p:nvSpPr>
        <p:spPr>
          <a:xfrm>
            <a:off x="571500" y="677763"/>
            <a:ext cx="4476676" cy="132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4164F"/>
                </a:solidFill>
                <a:latin typeface="Inter" pitchFamily="34" charset="0"/>
              </a:rPr>
              <a:t>The Miracle </a:t>
            </a:r>
            <a:br/>
            <a:r>
              <a:rPr lang="en-US" sz="3000" dirty="0">
                <a:solidFill>
                  <a:srgbClr val="24164F"/>
                </a:solidFill>
                <a:latin typeface="Inter" pitchFamily="34" charset="0"/>
              </a:rPr>
              <a:t> at the Core of </a:t>
            </a:r>
            <a:br/>
            <a:r>
              <a:rPr lang="en-US" sz="3000" dirty="0">
                <a:solidFill>
                  <a:srgbClr val="24164F"/>
                </a:solidFill>
                <a:latin typeface="Inter" pitchFamily="34" charset="0"/>
              </a:rPr>
              <a:t> </a:t>
            </a:r>
            <a:r>
              <a:rPr lang="en-US" sz="3000" dirty="0">
                <a:solidFill>
                  <a:srgbClr val="1FB7D6"/>
                </a:solidFill>
                <a:latin typeface="Inter" pitchFamily="34" charset="0"/>
              </a:rPr>
              <a:t>Biological Existence</a:t>
            </a:r>
            <a:endParaRPr lang="en-US" sz="3000" dirty="0"/>
          </a:p>
        </p:txBody>
      </p:sp>
      <p:grpSp>
        <p:nvGrpSpPr>
          <p:cNvPr id="67" name="dh-grp-dh-animroot-5"/>
          <p:cNvGrpSpPr/>
          <p:nvPr/>
        </p:nvGrpSpPr>
        <p:grpSpPr>
          <a:xfrm>
            <a:off x="571500" y="2193466"/>
            <a:ext cx="4429125" cy="1611474"/>
            <a:chOff x="0" y="0"/>
            <a:chExt cx="4429125" cy="1611474"/>
          </a:xfrm>
        </p:grpSpPr>
        <p:sp>
          <p:nvSpPr>
            <p:cNvPr id="52" name=""/>
            <p:cNvSpPr/>
            <p:nvPr/>
          </p:nvSpPr>
          <p:spPr>
            <a:xfrm>
              <a:off x="0" y="0"/>
              <a:ext cx="4429125" cy="617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1000" dirty="0">
                  <a:solidFill>
                    <a:srgbClr val="172033"/>
                  </a:solidFill>
                  <a:latin typeface="Arial" pitchFamily="34" charset="0"/>
                </a:rPr>
                <a:t>In the vast expanse of the universe, life stands as the most breathtaking miracle. At the heart of this miracle lies a microscopic yet incredibly complex structure—the </a:t>
              </a:r>
              <a:r>
                <a:rPr lang="en-US" sz="1000" b="1" dirty="0">
                  <a:solidFill>
                    <a:srgbClr val="24164F"/>
                  </a:solidFill>
                  <a:latin typeface="Arial" pitchFamily="34" charset="0"/>
                </a:rPr>
                <a:t>DNA Double Helix</a:t>
              </a:r>
              <a:r>
                <a:rPr lang="en-US" sz="1000" dirty="0">
                  <a:solidFill>
                    <a:srgbClr val="172033"/>
                  </a:solidFill>
                  <a:latin typeface="Arial" pitchFamily="34" charset="0"/>
                </a:rPr>
                <a:t>.</a:t>
              </a:r>
              <a:endParaRPr lang="en-US" sz="1000" dirty="0"/>
            </a:p>
          </p:txBody>
        </p:sp>
        <p:sp>
          <p:nvSpPr>
            <p:cNvPr id="53" name=""/>
            <p:cNvSpPr/>
            <p:nvPr/>
          </p:nvSpPr>
          <p:spPr>
            <a:xfrm>
              <a:off x="0" y="788603"/>
              <a:ext cx="4429125" cy="8228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1000" dirty="0">
                  <a:solidFill>
                    <a:srgbClr val="172033"/>
                  </a:solidFill>
                  <a:latin typeface="Arial" pitchFamily="34" charset="0"/>
                </a:rPr>
                <a:t>It serves as a cryptic codebook left by nature, recording the past, present, and future of every living being. From the delicate bloom of a rose to the soaring eagle, from the giants of the deep to you—the blueprint is stored within this magnificent spiral.</a:t>
              </a:r>
              <a:endParaRPr lang="en-US" sz="1000" dirty="0"/>
            </a:p>
          </p:txBody>
        </p:sp>
      </p:grpSp>
      <p:grpSp>
        <p:nvGrpSpPr>
          <p:cNvPr id="68" name="dh-grp-dh-animroot-6"/>
          <p:cNvGrpSpPr/>
          <p:nvPr/>
        </p:nvGrpSpPr>
        <p:grpSpPr>
          <a:xfrm>
            <a:off x="571500" y="4057650"/>
            <a:ext cx="4143375" cy="742950"/>
            <a:chOff x="0" y="0"/>
            <a:chExt cx="4143375" cy="742950"/>
          </a:xfrm>
        </p:grpSpPr>
        <p:sp>
          <p:nvSpPr>
            <p:cNvPr id="54" name=""/>
            <p:cNvSpPr/>
            <p:nvPr/>
          </p:nvSpPr>
          <p:spPr>
            <a:xfrm>
              <a:off x="0" y="0"/>
              <a:ext cx="907256" cy="742950"/>
            </a:xfrm>
            <a:prstGeom prst="roundRect">
              <a:avLst>
                <a:gd name="adj" fmla="val 15385"/>
              </a:avLst>
            </a:prstGeom>
            <a:solidFill>
              <a:srgbClr val="E8E4F7">
                <a:alpha val="30000"/>
              </a:srgbClr>
            </a:solidFill>
            <a:ln w="6350">
              <a:solidFill>
                <a:srgbClr val="172033">
                  <a:alpha val="12000"/>
                </a:srgbClr>
              </a:solidFill>
              <a:prstDash val="solid"/>
            </a:ln>
          </p:spPr>
        </p:sp>
        <p:sp>
          <p:nvSpPr>
            <p:cNvPr id="55" name=""/>
            <p:cNvSpPr/>
            <p:nvPr/>
          </p:nvSpPr>
          <p:spPr>
            <a:xfrm>
              <a:off x="367903" y="150019"/>
              <a:ext cx="171450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33300"/>
                </a:lnSpc>
                <a:buNone/>
              </a:pPr>
              <a:r>
                <a:rPr lang="en-US" sz="1300" dirty="0">
                  <a:solidFill>
                    <a:srgbClr val="1FB7D6"/>
                  </a:solidFill>
                  <a:latin typeface="Font Awesome 6 Free Solid" pitchFamily="34" charset="0"/>
                  <a:ea typeface="Font Awesome 6 Free Solid" pitchFamily="34" charset="-122"/>
                  <a:cs typeface="Font Awesome 6 Free Solid" pitchFamily="34" charset="-120"/>
                </a:rPr>
                <a:t></a:t>
              </a:r>
              <a:endParaRPr lang="en-US" sz="1300" dirty="0"/>
            </a:p>
          </p:txBody>
        </p:sp>
        <p:sp>
          <p:nvSpPr>
            <p:cNvPr id="56" name=""/>
            <p:cNvSpPr/>
            <p:nvPr/>
          </p:nvSpPr>
          <p:spPr>
            <a:xfrm>
              <a:off x="217326" y="464344"/>
              <a:ext cx="472604" cy="128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50000"/>
                </a:lnSpc>
                <a:buNone/>
              </a:pPr>
              <a:r>
                <a:rPr lang="en-US" sz="600" b="1" dirty="0">
                  <a:solidFill>
                    <a:srgbClr val="172033">
                      <a:alpha val="60000"/>
                    </a:srgbClr>
                  </a:solidFill>
                  <a:latin typeface="Arial" pitchFamily="34" charset="0"/>
                </a:rPr>
                <a:t>THE ROSE</a:t>
              </a:r>
              <a:endParaRPr lang="en-US" sz="600" dirty="0"/>
            </a:p>
          </p:txBody>
        </p:sp>
        <p:sp>
          <p:nvSpPr>
            <p:cNvPr id="57" name=""/>
            <p:cNvSpPr/>
            <p:nvPr/>
          </p:nvSpPr>
          <p:spPr>
            <a:xfrm>
              <a:off x="1078706" y="0"/>
              <a:ext cx="907256" cy="742950"/>
            </a:xfrm>
            <a:prstGeom prst="roundRect">
              <a:avLst>
                <a:gd name="adj" fmla="val 15385"/>
              </a:avLst>
            </a:prstGeom>
            <a:solidFill>
              <a:srgbClr val="E8E4F7">
                <a:alpha val="30000"/>
              </a:srgbClr>
            </a:solidFill>
            <a:ln w="6350">
              <a:solidFill>
                <a:srgbClr val="172033">
                  <a:alpha val="12000"/>
                </a:srgbClr>
              </a:solidFill>
              <a:prstDash val="solid"/>
            </a:ln>
          </p:spPr>
        </p:sp>
        <p:sp>
          <p:nvSpPr>
            <p:cNvPr id="58" name=""/>
            <p:cNvSpPr/>
            <p:nvPr/>
          </p:nvSpPr>
          <p:spPr>
            <a:xfrm>
              <a:off x="1446609" y="150019"/>
              <a:ext cx="171450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33300"/>
                </a:lnSpc>
                <a:buNone/>
              </a:pPr>
              <a:r>
                <a:rPr lang="en-US" sz="1300" dirty="0">
                  <a:solidFill>
                    <a:srgbClr val="1FB7D6"/>
                  </a:solidFill>
                  <a:latin typeface="Font Awesome 6 Free Solid" pitchFamily="34" charset="0"/>
                  <a:ea typeface="Font Awesome 6 Free Solid" pitchFamily="34" charset="-122"/>
                  <a:cs typeface="Font Awesome 6 Free Solid" pitchFamily="34" charset="-120"/>
                </a:rPr>
                <a:t></a:t>
              </a:r>
              <a:endParaRPr lang="en-US" sz="1300" dirty="0"/>
            </a:p>
          </p:txBody>
        </p:sp>
        <p:sp>
          <p:nvSpPr>
            <p:cNvPr id="59" name=""/>
            <p:cNvSpPr/>
            <p:nvPr/>
          </p:nvSpPr>
          <p:spPr>
            <a:xfrm>
              <a:off x="1267681" y="464344"/>
              <a:ext cx="529196" cy="128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50000"/>
                </a:lnSpc>
                <a:buNone/>
              </a:pPr>
              <a:r>
                <a:rPr lang="en-US" sz="600" b="1" dirty="0">
                  <a:solidFill>
                    <a:srgbClr val="172033">
                      <a:alpha val="60000"/>
                    </a:srgbClr>
                  </a:solidFill>
                  <a:latin typeface="Arial" pitchFamily="34" charset="0"/>
                </a:rPr>
                <a:t>THE EAGLE</a:t>
              </a:r>
              <a:endParaRPr lang="en-US" sz="600" dirty="0"/>
            </a:p>
          </p:txBody>
        </p:sp>
        <p:sp>
          <p:nvSpPr>
            <p:cNvPr id="60" name=""/>
            <p:cNvSpPr/>
            <p:nvPr/>
          </p:nvSpPr>
          <p:spPr>
            <a:xfrm>
              <a:off x="2157413" y="0"/>
              <a:ext cx="907256" cy="742950"/>
            </a:xfrm>
            <a:prstGeom prst="roundRect">
              <a:avLst>
                <a:gd name="adj" fmla="val 15385"/>
              </a:avLst>
            </a:prstGeom>
            <a:solidFill>
              <a:srgbClr val="E8E4F7">
                <a:alpha val="30000"/>
              </a:srgbClr>
            </a:solidFill>
            <a:ln w="6350">
              <a:solidFill>
                <a:srgbClr val="172033">
                  <a:alpha val="12000"/>
                </a:srgbClr>
              </a:solidFill>
              <a:prstDash val="solid"/>
            </a:ln>
          </p:spPr>
        </p:sp>
        <p:sp>
          <p:nvSpPr>
            <p:cNvPr id="61" name=""/>
            <p:cNvSpPr/>
            <p:nvPr/>
          </p:nvSpPr>
          <p:spPr>
            <a:xfrm>
              <a:off x="2514600" y="150019"/>
              <a:ext cx="192881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33300"/>
                </a:lnSpc>
                <a:buNone/>
              </a:pPr>
              <a:r>
                <a:rPr lang="en-US" sz="1300" dirty="0">
                  <a:solidFill>
                    <a:srgbClr val="1FB7D6"/>
                  </a:solidFill>
                  <a:latin typeface="Font Awesome 6 Free Solid" pitchFamily="34" charset="0"/>
                  <a:ea typeface="Font Awesome 6 Free Solid" pitchFamily="34" charset="-122"/>
                  <a:cs typeface="Font Awesome 6 Free Solid" pitchFamily="34" charset="-120"/>
                </a:rPr>
                <a:t></a:t>
              </a:r>
              <a:endParaRPr lang="en-US" sz="1300" dirty="0"/>
            </a:p>
          </p:txBody>
        </p:sp>
        <p:sp>
          <p:nvSpPr>
            <p:cNvPr id="62" name=""/>
            <p:cNvSpPr/>
            <p:nvPr/>
          </p:nvSpPr>
          <p:spPr>
            <a:xfrm>
              <a:off x="2336899" y="464344"/>
              <a:ext cx="548171" cy="128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50000"/>
                </a:lnSpc>
                <a:buNone/>
              </a:pPr>
              <a:r>
                <a:rPr lang="en-US" sz="600" b="1" dirty="0">
                  <a:solidFill>
                    <a:srgbClr val="172033">
                      <a:alpha val="60000"/>
                    </a:srgbClr>
                  </a:solidFill>
                  <a:latin typeface="Arial" pitchFamily="34" charset="0"/>
                </a:rPr>
                <a:t>THE WHALE</a:t>
              </a:r>
              <a:endParaRPr lang="en-US" sz="600" dirty="0"/>
            </a:p>
          </p:txBody>
        </p:sp>
        <p:sp>
          <p:nvSpPr>
            <p:cNvPr id="63" name=""/>
            <p:cNvSpPr/>
            <p:nvPr/>
          </p:nvSpPr>
          <p:spPr>
            <a:xfrm>
              <a:off x="3236119" y="0"/>
              <a:ext cx="907256" cy="742950"/>
            </a:xfrm>
            <a:prstGeom prst="roundRect">
              <a:avLst>
                <a:gd name="adj" fmla="val 15385"/>
              </a:avLst>
            </a:prstGeom>
            <a:solidFill>
              <a:srgbClr val="E85D75">
                <a:alpha val="5000"/>
              </a:srgbClr>
            </a:solidFill>
            <a:ln w="6350">
              <a:solidFill>
                <a:srgbClr val="E85D75"/>
              </a:solidFill>
              <a:prstDash val="solid"/>
            </a:ln>
          </p:spPr>
        </p:sp>
        <p:sp>
          <p:nvSpPr>
            <p:cNvPr id="64" name=""/>
            <p:cNvSpPr/>
            <p:nvPr/>
          </p:nvSpPr>
          <p:spPr>
            <a:xfrm>
              <a:off x="3614738" y="150019"/>
              <a:ext cx="150019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33300"/>
                </a:lnSpc>
                <a:buNone/>
              </a:pPr>
              <a:r>
                <a:rPr lang="en-US" sz="1300" dirty="0">
                  <a:solidFill>
                    <a:srgbClr val="E85D75"/>
                  </a:solidFill>
                  <a:latin typeface="Font Awesome 6 Free Solid" pitchFamily="34" charset="0"/>
                  <a:ea typeface="Font Awesome 6 Free Solid" pitchFamily="34" charset="-122"/>
                  <a:cs typeface="Font Awesome 6 Free Solid" pitchFamily="34" charset="-120"/>
                </a:rPr>
                <a:t></a:t>
              </a:r>
              <a:endParaRPr lang="en-US" sz="1300" dirty="0"/>
            </a:p>
          </p:txBody>
        </p:sp>
        <p:sp>
          <p:nvSpPr>
            <p:cNvPr id="65" name=""/>
            <p:cNvSpPr/>
            <p:nvPr/>
          </p:nvSpPr>
          <p:spPr>
            <a:xfrm>
              <a:off x="3590404" y="464344"/>
              <a:ext cx="198686" cy="128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50000"/>
                </a:lnSpc>
                <a:buNone/>
              </a:pPr>
              <a:r>
                <a:rPr lang="en-US" sz="600" b="1" dirty="0">
                  <a:solidFill>
                    <a:srgbClr val="E85D75"/>
                  </a:solidFill>
                  <a:latin typeface="Arial" pitchFamily="34" charset="0"/>
                </a:rPr>
                <a:t>YOU</a:t>
              </a:r>
              <a:endParaRPr lang="en-US" sz="600" dirty="0"/>
            </a:p>
          </p:txBody>
        </p:sp>
      </p:grp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66" grpId="0" animBg="1"/>
      <p:bldP spid="51" grpId="0" animBg="1"/>
      <p:bldP spid="67" grpId="0" animBg="1"/>
      <p:bldP spid="6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2026-08-11T03:35:11Z</dcterms:created>
  <dcterms:modified xsi:type="dcterms:W3CDTF">2026-08-11T03:35:11Z</dcterms:modified>
</cp:coreProperties>
</file>