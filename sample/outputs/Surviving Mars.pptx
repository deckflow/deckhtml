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oundRect">
            <a:avLst>
              <a:gd name="adj" fmla="val 2222"/>
            </a:avLst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443413" y="1514475"/>
            <a:ext cx="6543675" cy="6543675"/>
          </a:xfrm>
          <a:prstGeom prst="ellipse">
            <a:avLst/>
          </a:prstGeom>
          <a:gradFill>
            <a:gsLst>
              <a:gs pos="0">
                <a:srgbClr val="E04B2B">
                  <a:alpha val="40000"/>
                </a:srgbClr>
              </a:gs>
              <a:gs pos="50000">
                <a:srgbClr val="8A2A16">
                  <a:alpha val="40000"/>
                </a:srgbClr>
              </a:gs>
              <a:gs pos="100000">
                <a:srgbClr val="1C0A06">
                  <a:alpha val="40000"/>
                </a:srgbClr>
              </a:gs>
            </a:gsLst>
            <a:path path="circle">
              <a:fillToRect l="30000" t="30000" r="70000" b="70000"/>
            </a:path>
          </a:gradFill>
          <a:ln/>
          <a:effectLst>
            <a:outerShdw blurRad="58928" dist="17678" dir="16200000" algn="ctr" rotWithShape="0">
              <a:srgbClr val="822A18">
                <a:alpha val="40000"/>
              </a:srgbClr>
            </a:outerShdw>
            <a:softEdge rad="127000"/>
          </a:effectLst>
        </p:spPr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noFill/>
          <a:ln/>
        </p:spPr>
      </p:sp>
      <p:sp>
        <p:nvSpPr>
          <p:cNvPr id="7" name="Shape 2"/>
          <p:cNvSpPr/>
          <p:nvPr/>
        </p:nvSpPr>
        <p:spPr>
          <a:xfrm>
            <a:off x="4107656" y="0"/>
            <a:ext cx="7144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8" name="Shape 3"/>
          <p:cNvSpPr/>
          <p:nvPr/>
        </p:nvSpPr>
        <p:spPr>
          <a:xfrm>
            <a:off x="428625" y="428625"/>
            <a:ext cx="1701664" cy="250031"/>
          </a:xfrm>
          <a:prstGeom prst="roundRect">
            <a:avLst>
              <a:gd name="adj" fmla="val 11429"/>
            </a:avLst>
          </a:prstGeom>
          <a:solidFill>
            <a:srgbClr val="E04B2B">
              <a:alpha val="15000"/>
            </a:srgbClr>
          </a:solidFill>
          <a:ln w="6350">
            <a:solidFill>
              <a:srgbClr val="E04B2B">
                <a:alpha val="30000"/>
              </a:srgbClr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428625" y="428625"/>
            <a:ext cx="1701664" cy="250031"/>
          </a:xfrm>
          <a:prstGeom prst="rect">
            <a:avLst/>
          </a:prstGeom>
          <a:noFill/>
          <a:ln/>
        </p:spPr>
        <p:txBody>
          <a:bodyPr wrap="none" lIns="257810" tIns="66294" rIns="125222" bIns="66294" rtlCol="0" anchor="ctr"/>
          <a:lstStyle/>
          <a:p>
            <a:pPr indent="0" marL="0">
              <a:buNone/>
            </a:pPr>
            <a:r>
              <a:rPr lang="en-US" sz="700" b="1" spc="157" kern="0" dirty="0">
                <a:solidFill>
                  <a:srgbClr val="FF6B4A"/>
                </a:solidFill>
                <a:latin typeface="JetBrains Mono" pitchFamily="34" charset="0"/>
              </a:rPr>
              <a:t>ENVIRONMENTAL BRIEF</a:t>
            </a:r>
            <a:endParaRPr lang="en-US" sz="700" dirty="0"/>
          </a:p>
        </p:txBody>
      </p:sp>
      <p:sp>
        <p:nvSpPr>
          <p:cNvPr id="10" name="Shape 5"/>
          <p:cNvSpPr/>
          <p:nvPr/>
        </p:nvSpPr>
        <p:spPr>
          <a:xfrm>
            <a:off x="550069" y="525066"/>
            <a:ext cx="57150" cy="57150"/>
          </a:xfrm>
          <a:prstGeom prst="ellipse">
            <a:avLst/>
          </a:prstGeom>
          <a:solidFill>
            <a:srgbClr val="FF6B4A"/>
          </a:solidFill>
          <a:ln/>
          <a:effectLst>
            <a:glow rad="73660">
              <a:srgbClr val="FF6B4A">
                <a:alpha val="50000"/>
              </a:srgbClr>
            </a:glow>
          </a:effectLst>
        </p:spPr>
      </p:sp>
      <p:sp>
        <p:nvSpPr>
          <p:cNvPr id="11" name="Text 6"/>
          <p:cNvSpPr/>
          <p:nvPr/>
        </p:nvSpPr>
        <p:spPr>
          <a:xfrm>
            <a:off x="428625" y="850106"/>
            <a:ext cx="3250406" cy="880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spc="117" kern="0" dirty="0">
                <a:solidFill>
                  <a:srgbClr val="F3F4F6"/>
                </a:solidFill>
                <a:latin typeface="Inter" pitchFamily="34" charset="0"/>
              </a:rPr>
              <a:t>SURVIVING</a:t>
            </a:r>
            <a:br/>
            <a:r>
              <a:rPr lang="en-US" sz="3000" b="1" spc="117" kern="0" dirty="0">
                <a:solidFill>
                  <a:srgbClr val="E04B2B"/>
                </a:solidFill>
                <a:latin typeface="Inter" pitchFamily="34" charset="0"/>
              </a:rPr>
              <a:t>MARS</a:t>
            </a:r>
            <a:endParaRPr lang="en-US" sz="3000" dirty="0"/>
          </a:p>
        </p:txBody>
      </p:sp>
      <p:sp>
        <p:nvSpPr>
          <p:cNvPr id="12" name="Text 7"/>
          <p:cNvSpPr/>
          <p:nvPr/>
        </p:nvSpPr>
        <p:spPr>
          <a:xfrm>
            <a:off x="428625" y="2015877"/>
            <a:ext cx="153947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spc="157" kern="0" dirty="0">
                <a:solidFill>
                  <a:srgbClr val="FF6B4A"/>
                </a:solidFill>
                <a:latin typeface="JetBrains Mono" pitchFamily="34" charset="0"/>
              </a:rPr>
              <a:t>-63</a:t>
            </a:r>
            <a:r>
              <a:rPr lang="en-US" sz="1100" b="1" spc="157" kern="0" dirty="0">
                <a:solidFill>
                  <a:srgbClr val="9CA3AF"/>
                </a:solidFill>
                <a:latin typeface="JetBrains Mono" pitchFamily="34" charset="0"/>
              </a:rPr>
              <a:t> °C</a:t>
            </a:r>
            <a:endParaRPr lang="en-US" sz="2600" dirty="0"/>
          </a:p>
        </p:txBody>
      </p:sp>
      <p:sp>
        <p:nvSpPr>
          <p:cNvPr id="13" name="Text 8"/>
          <p:cNvSpPr/>
          <p:nvPr/>
        </p:nvSpPr>
        <p:spPr>
          <a:xfrm>
            <a:off x="428625" y="2415927"/>
            <a:ext cx="153947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700" b="1" spc="78" kern="0" dirty="0">
                <a:solidFill>
                  <a:srgbClr val="9CA3AF"/>
                </a:solidFill>
                <a:latin typeface="Inter" pitchFamily="34" charset="0"/>
              </a:rPr>
              <a:t>AVG SURFACE TEMP</a:t>
            </a:r>
            <a:endParaRPr lang="en-US" sz="700" dirty="0"/>
          </a:p>
        </p:txBody>
      </p:sp>
      <p:sp>
        <p:nvSpPr>
          <p:cNvPr id="14" name="Text 9"/>
          <p:cNvSpPr/>
          <p:nvPr/>
        </p:nvSpPr>
        <p:spPr>
          <a:xfrm>
            <a:off x="2139553" y="2015877"/>
            <a:ext cx="153947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spc="157" kern="0" dirty="0">
                <a:solidFill>
                  <a:srgbClr val="FF6B4A"/>
                </a:solidFill>
                <a:latin typeface="JetBrains Mono" pitchFamily="34" charset="0"/>
              </a:rPr>
              <a:t>1</a:t>
            </a:r>
            <a:r>
              <a:rPr lang="en-US" sz="1100" b="1" spc="157" kern="0" dirty="0">
                <a:solidFill>
                  <a:srgbClr val="9CA3AF"/>
                </a:solidFill>
                <a:latin typeface="JetBrains Mono" pitchFamily="34" charset="0"/>
              </a:rPr>
              <a:t> %</a:t>
            </a:r>
            <a:endParaRPr lang="en-US" sz="2600" dirty="0"/>
          </a:p>
        </p:txBody>
      </p:sp>
      <p:sp>
        <p:nvSpPr>
          <p:cNvPr id="15" name="Text 10"/>
          <p:cNvSpPr/>
          <p:nvPr/>
        </p:nvSpPr>
        <p:spPr>
          <a:xfrm>
            <a:off x="2139553" y="2415927"/>
            <a:ext cx="153947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700" b="1" spc="78" kern="0" dirty="0">
                <a:solidFill>
                  <a:srgbClr val="9CA3AF"/>
                </a:solidFill>
                <a:latin typeface="Inter" pitchFamily="34" charset="0"/>
              </a:rPr>
              <a:t>ATMOSPHERE DENSITY</a:t>
            </a:r>
            <a:endParaRPr lang="en-US" sz="700" dirty="0"/>
          </a:p>
        </p:txBody>
      </p:sp>
      <p:sp>
        <p:nvSpPr>
          <p:cNvPr id="16" name="Text 11"/>
          <p:cNvSpPr/>
          <p:nvPr/>
        </p:nvSpPr>
        <p:spPr>
          <a:xfrm>
            <a:off x="428625" y="2758827"/>
            <a:ext cx="153947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spc="157" kern="0" dirty="0">
                <a:solidFill>
                  <a:srgbClr val="FF6B4A"/>
                </a:solidFill>
                <a:latin typeface="JetBrains Mono" pitchFamily="34" charset="0"/>
              </a:rPr>
              <a:t>38</a:t>
            </a:r>
            <a:r>
              <a:rPr lang="en-US" sz="1100" b="1" spc="157" kern="0" dirty="0">
                <a:solidFill>
                  <a:srgbClr val="9CA3AF"/>
                </a:solidFill>
                <a:latin typeface="JetBrains Mono" pitchFamily="34" charset="0"/>
              </a:rPr>
              <a:t> %</a:t>
            </a:r>
            <a:endParaRPr lang="en-US" sz="2600" dirty="0"/>
          </a:p>
        </p:txBody>
      </p:sp>
      <p:sp>
        <p:nvSpPr>
          <p:cNvPr id="17" name="Text 12"/>
          <p:cNvSpPr/>
          <p:nvPr/>
        </p:nvSpPr>
        <p:spPr>
          <a:xfrm>
            <a:off x="428625" y="3158877"/>
            <a:ext cx="153947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700" b="1" spc="78" kern="0" dirty="0">
                <a:solidFill>
                  <a:srgbClr val="9CA3AF"/>
                </a:solidFill>
                <a:latin typeface="Inter" pitchFamily="34" charset="0"/>
              </a:rPr>
              <a:t>EARTH'S GRAVITY</a:t>
            </a:r>
            <a:endParaRPr lang="en-US" sz="700" dirty="0"/>
          </a:p>
        </p:txBody>
      </p:sp>
      <p:sp>
        <p:nvSpPr>
          <p:cNvPr id="18" name="Text 13"/>
          <p:cNvSpPr/>
          <p:nvPr/>
        </p:nvSpPr>
        <p:spPr>
          <a:xfrm>
            <a:off x="2139553" y="2758827"/>
            <a:ext cx="153947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spc="157" kern="0" dirty="0">
                <a:solidFill>
                  <a:srgbClr val="FF6B4A"/>
                </a:solidFill>
                <a:latin typeface="JetBrains Mono" pitchFamily="34" charset="0"/>
              </a:rPr>
              <a:t>250</a:t>
            </a:r>
            <a:r>
              <a:rPr lang="en-US" sz="1100" b="1" spc="157" kern="0" dirty="0">
                <a:solidFill>
                  <a:srgbClr val="9CA3AF"/>
                </a:solidFill>
                <a:latin typeface="JetBrains Mono" pitchFamily="34" charset="0"/>
              </a:rPr>
              <a:t> mSv</a:t>
            </a:r>
            <a:endParaRPr lang="en-US" sz="2600" dirty="0"/>
          </a:p>
        </p:txBody>
      </p:sp>
      <p:sp>
        <p:nvSpPr>
          <p:cNvPr id="19" name="Text 14"/>
          <p:cNvSpPr/>
          <p:nvPr/>
        </p:nvSpPr>
        <p:spPr>
          <a:xfrm>
            <a:off x="2139553" y="3158877"/>
            <a:ext cx="15394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78" kern="0" dirty="0">
                <a:solidFill>
                  <a:srgbClr val="9CA3AF"/>
                </a:solidFill>
                <a:latin typeface="Inter" pitchFamily="34" charset="0"/>
              </a:rPr>
              <a:t>ANNUAL RADIATION EXPOSURE</a:t>
            </a:r>
            <a:endParaRPr lang="en-US" sz="700" dirty="0"/>
          </a:p>
        </p:txBody>
      </p:sp>
      <p:sp>
        <p:nvSpPr>
          <p:cNvPr id="20" name="Shape 15"/>
          <p:cNvSpPr/>
          <p:nvPr/>
        </p:nvSpPr>
        <p:spPr>
          <a:xfrm>
            <a:off x="428625" y="3880619"/>
            <a:ext cx="3250406" cy="834256"/>
          </a:xfrm>
          <a:custGeom>
            <a:pathLst>
              <a:path w="21600" h="21600">
                <a:moveTo>
                  <a:pt x="0" y="0"/>
                </a:moveTo>
                <a:lnTo>
                  <a:pt x="21220" y="0"/>
                </a:lnTo>
                <a:lnTo>
                  <a:pt x="21294" y="28"/>
                </a:lnTo>
                <a:lnTo>
                  <a:pt x="21366" y="113"/>
                </a:lnTo>
                <a:lnTo>
                  <a:pt x="21431" y="249"/>
                </a:lnTo>
                <a:lnTo>
                  <a:pt x="21489" y="433"/>
                </a:lnTo>
                <a:lnTo>
                  <a:pt x="21536" y="658"/>
                </a:lnTo>
                <a:lnTo>
                  <a:pt x="21571" y="913"/>
                </a:lnTo>
                <a:lnTo>
                  <a:pt x="21593" y="1191"/>
                </a:lnTo>
                <a:lnTo>
                  <a:pt x="21600" y="1480"/>
                </a:lnTo>
                <a:lnTo>
                  <a:pt x="21600" y="20120"/>
                </a:lnTo>
                <a:lnTo>
                  <a:pt x="21593" y="20409"/>
                </a:lnTo>
                <a:lnTo>
                  <a:pt x="21571" y="20687"/>
                </a:lnTo>
                <a:lnTo>
                  <a:pt x="21536" y="20942"/>
                </a:lnTo>
                <a:lnTo>
                  <a:pt x="21489" y="21167"/>
                </a:lnTo>
                <a:lnTo>
                  <a:pt x="21431" y="21351"/>
                </a:lnTo>
                <a:lnTo>
                  <a:pt x="21366" y="21487"/>
                </a:lnTo>
                <a:lnTo>
                  <a:pt x="21294" y="21572"/>
                </a:lnTo>
                <a:lnTo>
                  <a:pt x="21220" y="21600"/>
                </a:ln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E04B2B">
                  <a:alpha val="8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21" name="Shape 16"/>
          <p:cNvSpPr/>
          <p:nvPr/>
        </p:nvSpPr>
        <p:spPr>
          <a:xfrm>
            <a:off x="428625" y="3880619"/>
            <a:ext cx="28575" cy="834256"/>
          </a:xfrm>
          <a:custGeom>
            <a:pathLst>
              <a:path w="21600" h="21600">
                <a:moveTo>
                  <a:pt x="21600" y="0"/>
                </a:move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E04B2B"/>
          </a:solidFill>
          <a:ln/>
        </p:spPr>
      </p:sp>
      <p:sp>
        <p:nvSpPr>
          <p:cNvPr id="22" name="Text 17"/>
          <p:cNvSpPr/>
          <p:nvPr/>
        </p:nvSpPr>
        <p:spPr>
          <a:xfrm>
            <a:off x="628650" y="4023494"/>
            <a:ext cx="2878931" cy="548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900" i="1" dirty="0">
                <a:solidFill>
                  <a:srgbClr val="D1D5DB"/>
                </a:solidFill>
                <a:latin typeface="Inter" pitchFamily="34" charset="0"/>
              </a:rPr>
              <a:t>"Mars offers no natural window of habitability. Every condition for human survival must be artificially engineered and maintained in strict closed loops."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4543425" y="728663"/>
            <a:ext cx="41719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spc="78" kern="0" dirty="0">
                <a:solidFill>
                  <a:srgbClr val="FFFFFF"/>
                </a:solidFill>
                <a:latin typeface="Inter" pitchFamily="34" charset="0"/>
              </a:rPr>
              <a:t>CORE SURVIVAL ENGINEERING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6918722" y="810816"/>
            <a:ext cx="1682353" cy="7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5" name="Shape 20"/>
          <p:cNvSpPr/>
          <p:nvPr/>
        </p:nvSpPr>
        <p:spPr>
          <a:xfrm>
            <a:off x="4543425" y="1128713"/>
            <a:ext cx="4171950" cy="735806"/>
          </a:xfrm>
          <a:prstGeom prst="roundRect">
            <a:avLst>
              <a:gd name="adj" fmla="val 11650"/>
            </a:avLst>
          </a:prstGeom>
          <a:solidFill>
            <a:srgbClr val="FFFFFF">
              <a:alpha val="2000"/>
            </a:srgbClr>
          </a:solidFill>
          <a:ln w="635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722019" y="1353741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27" name="Text 22"/>
          <p:cNvSpPr/>
          <p:nvPr/>
        </p:nvSpPr>
        <p:spPr>
          <a:xfrm>
            <a:off x="4722019" y="1353741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ter" pitchFamily="34" charset="0"/>
              </a:rPr>
              <a:t>💨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5122069" y="1353741"/>
            <a:ext cx="148590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600" b="1" spc="78" kern="0" dirty="0">
                <a:solidFill>
                  <a:srgbClr val="6B7280"/>
                </a:solidFill>
                <a:latin typeface="Inter" pitchFamily="34" charset="0"/>
              </a:rPr>
              <a:t>ATMOSPHERE</a:t>
            </a:r>
            <a:endParaRPr lang="en-US" sz="600" dirty="0"/>
          </a:p>
        </p:txBody>
      </p:sp>
      <p:sp>
        <p:nvSpPr>
          <p:cNvPr id="29" name="Text 24"/>
          <p:cNvSpPr/>
          <p:nvPr/>
        </p:nvSpPr>
        <p:spPr>
          <a:xfrm>
            <a:off x="5122069" y="1489472"/>
            <a:ext cx="14859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E5E7EB"/>
                </a:solidFill>
                <a:latin typeface="Inter" pitchFamily="34" charset="0"/>
              </a:rPr>
              <a:t>No Oxygen / 95% CO₂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6722269" y="1410891"/>
            <a:ext cx="2143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4B2B">
                    <a:alpha val="70000"/>
                  </a:srgbClr>
                </a:solidFill>
                <a:latin typeface="Inter" pitchFamily="34" charset="0"/>
              </a:rPr>
              <a:t>➔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7050881" y="1278731"/>
            <a:ext cx="148590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600" b="1" spc="78" kern="0" dirty="0">
                <a:solidFill>
                  <a:srgbClr val="6B7280"/>
                </a:solidFill>
                <a:latin typeface="Inter" pitchFamily="34" charset="0"/>
              </a:rPr>
              <a:t>SOLUTION</a:t>
            </a:r>
            <a:endParaRPr lang="en-US" sz="600" dirty="0"/>
          </a:p>
        </p:txBody>
      </p:sp>
      <p:sp>
        <p:nvSpPr>
          <p:cNvPr id="32" name="Text 27"/>
          <p:cNvSpPr/>
          <p:nvPr/>
        </p:nvSpPr>
        <p:spPr>
          <a:xfrm>
            <a:off x="7050881" y="1414463"/>
            <a:ext cx="148590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FFB4A2"/>
                </a:solidFill>
                <a:latin typeface="Inter" pitchFamily="34" charset="0"/>
              </a:rPr>
              <a:t>ISRU &amp; MOXIE Oxygen Generators</a:t>
            </a:r>
            <a:endParaRPr lang="en-US" sz="800" dirty="0"/>
          </a:p>
        </p:txBody>
      </p:sp>
      <p:sp>
        <p:nvSpPr>
          <p:cNvPr id="33" name="Shape 28"/>
          <p:cNvSpPr/>
          <p:nvPr/>
        </p:nvSpPr>
        <p:spPr>
          <a:xfrm>
            <a:off x="4543425" y="1978819"/>
            <a:ext cx="4171950" cy="735806"/>
          </a:xfrm>
          <a:prstGeom prst="roundRect">
            <a:avLst>
              <a:gd name="adj" fmla="val 11650"/>
            </a:avLst>
          </a:prstGeom>
          <a:solidFill>
            <a:srgbClr val="FFFFFF">
              <a:alpha val="2000"/>
            </a:srgbClr>
          </a:solidFill>
          <a:ln w="635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4722019" y="2203847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35" name="Text 30"/>
          <p:cNvSpPr/>
          <p:nvPr/>
        </p:nvSpPr>
        <p:spPr>
          <a:xfrm>
            <a:off x="4722019" y="2203847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ter" pitchFamily="34" charset="0"/>
              </a:rPr>
              <a:t>💧</a:t>
            </a:r>
            <a:endParaRPr lang="en-US" sz="1300" dirty="0"/>
          </a:p>
        </p:txBody>
      </p:sp>
      <p:sp>
        <p:nvSpPr>
          <p:cNvPr id="36" name="Text 31"/>
          <p:cNvSpPr/>
          <p:nvPr/>
        </p:nvSpPr>
        <p:spPr>
          <a:xfrm>
            <a:off x="5122069" y="2203847"/>
            <a:ext cx="148590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600" b="1" spc="78" kern="0" dirty="0">
                <a:solidFill>
                  <a:srgbClr val="6B7280"/>
                </a:solidFill>
                <a:latin typeface="Inter" pitchFamily="34" charset="0"/>
              </a:rPr>
              <a:t>WATER SUPPLY</a:t>
            </a:r>
            <a:endParaRPr lang="en-US" sz="600" dirty="0"/>
          </a:p>
        </p:txBody>
      </p:sp>
      <p:sp>
        <p:nvSpPr>
          <p:cNvPr id="37" name="Text 32"/>
          <p:cNvSpPr/>
          <p:nvPr/>
        </p:nvSpPr>
        <p:spPr>
          <a:xfrm>
            <a:off x="5122069" y="2339578"/>
            <a:ext cx="14859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E5E7EB"/>
                </a:solidFill>
                <a:latin typeface="Inter" pitchFamily="34" charset="0"/>
              </a:rPr>
              <a:t>Locked in Subsurface Ice</a:t>
            </a:r>
            <a:endParaRPr lang="en-US" sz="800" dirty="0"/>
          </a:p>
        </p:txBody>
      </p:sp>
      <p:sp>
        <p:nvSpPr>
          <p:cNvPr id="38" name="Text 33"/>
          <p:cNvSpPr/>
          <p:nvPr/>
        </p:nvSpPr>
        <p:spPr>
          <a:xfrm>
            <a:off x="6722269" y="2260997"/>
            <a:ext cx="2143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4B2B">
                    <a:alpha val="70000"/>
                  </a:srgbClr>
                </a:solidFill>
                <a:latin typeface="Inter" pitchFamily="34" charset="0"/>
              </a:rPr>
              <a:t>➔</a:t>
            </a:r>
            <a:endParaRPr lang="en-US" sz="1100" dirty="0"/>
          </a:p>
        </p:txBody>
      </p:sp>
      <p:sp>
        <p:nvSpPr>
          <p:cNvPr id="39" name="Text 34"/>
          <p:cNvSpPr/>
          <p:nvPr/>
        </p:nvSpPr>
        <p:spPr>
          <a:xfrm>
            <a:off x="7050881" y="2128838"/>
            <a:ext cx="148590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600" b="1" spc="78" kern="0" dirty="0">
                <a:solidFill>
                  <a:srgbClr val="6B7280"/>
                </a:solidFill>
                <a:latin typeface="Inter" pitchFamily="34" charset="0"/>
              </a:rPr>
              <a:t>SOLUTION</a:t>
            </a:r>
            <a:endParaRPr lang="en-US" sz="600" dirty="0"/>
          </a:p>
        </p:txBody>
      </p:sp>
      <p:sp>
        <p:nvSpPr>
          <p:cNvPr id="40" name="Text 35"/>
          <p:cNvSpPr/>
          <p:nvPr/>
        </p:nvSpPr>
        <p:spPr>
          <a:xfrm>
            <a:off x="7050881" y="2264569"/>
            <a:ext cx="148590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FFB4A2"/>
                </a:solidFill>
                <a:latin typeface="Inter" pitchFamily="34" charset="0"/>
              </a:rPr>
              <a:t>Thermal Extraction &amp; 100% Recycling</a:t>
            </a:r>
            <a:endParaRPr lang="en-US" sz="800" dirty="0"/>
          </a:p>
        </p:txBody>
      </p:sp>
      <p:sp>
        <p:nvSpPr>
          <p:cNvPr id="41" name="Shape 36"/>
          <p:cNvSpPr/>
          <p:nvPr/>
        </p:nvSpPr>
        <p:spPr>
          <a:xfrm>
            <a:off x="4543425" y="2828925"/>
            <a:ext cx="4171950" cy="735806"/>
          </a:xfrm>
          <a:prstGeom prst="roundRect">
            <a:avLst>
              <a:gd name="adj" fmla="val 11650"/>
            </a:avLst>
          </a:prstGeom>
          <a:solidFill>
            <a:srgbClr val="FFFFFF">
              <a:alpha val="2000"/>
            </a:srgbClr>
          </a:solidFill>
          <a:ln w="635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4722019" y="3053953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43" name="Text 38"/>
          <p:cNvSpPr/>
          <p:nvPr/>
        </p:nvSpPr>
        <p:spPr>
          <a:xfrm>
            <a:off x="4722019" y="3053953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ter" pitchFamily="34" charset="0"/>
              </a:rPr>
              <a:t>🌱</a:t>
            </a:r>
            <a:endParaRPr lang="en-US" sz="1300" dirty="0"/>
          </a:p>
        </p:txBody>
      </p:sp>
      <p:sp>
        <p:nvSpPr>
          <p:cNvPr id="44" name="Text 39"/>
          <p:cNvSpPr/>
          <p:nvPr/>
        </p:nvSpPr>
        <p:spPr>
          <a:xfrm>
            <a:off x="5122069" y="3053953"/>
            <a:ext cx="148590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600" b="1" spc="78" kern="0" dirty="0">
                <a:solidFill>
                  <a:srgbClr val="6B7280"/>
                </a:solidFill>
                <a:latin typeface="Inter" pitchFamily="34" charset="0"/>
              </a:rPr>
              <a:t>NUTRITION</a:t>
            </a:r>
            <a:endParaRPr lang="en-US" sz="600" dirty="0"/>
          </a:p>
        </p:txBody>
      </p:sp>
      <p:sp>
        <p:nvSpPr>
          <p:cNvPr id="45" name="Text 40"/>
          <p:cNvSpPr/>
          <p:nvPr/>
        </p:nvSpPr>
        <p:spPr>
          <a:xfrm>
            <a:off x="5122069" y="3189684"/>
            <a:ext cx="14859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E5E7EB"/>
                </a:solidFill>
                <a:latin typeface="Inter" pitchFamily="34" charset="0"/>
              </a:rPr>
              <a:t>Toxic Perchlorate Soil</a:t>
            </a:r>
            <a:endParaRPr lang="en-US" sz="800" dirty="0"/>
          </a:p>
        </p:txBody>
      </p:sp>
      <p:sp>
        <p:nvSpPr>
          <p:cNvPr id="46" name="Text 41"/>
          <p:cNvSpPr/>
          <p:nvPr/>
        </p:nvSpPr>
        <p:spPr>
          <a:xfrm>
            <a:off x="6722269" y="3111103"/>
            <a:ext cx="2143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4B2B">
                    <a:alpha val="70000"/>
                  </a:srgbClr>
                </a:solidFill>
                <a:latin typeface="Inter" pitchFamily="34" charset="0"/>
              </a:rPr>
              <a:t>➔</a:t>
            </a:r>
            <a:endParaRPr lang="en-US" sz="1100" dirty="0"/>
          </a:p>
        </p:txBody>
      </p:sp>
      <p:sp>
        <p:nvSpPr>
          <p:cNvPr id="47" name="Text 42"/>
          <p:cNvSpPr/>
          <p:nvPr/>
        </p:nvSpPr>
        <p:spPr>
          <a:xfrm>
            <a:off x="7050881" y="2978944"/>
            <a:ext cx="148590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600" b="1" spc="78" kern="0" dirty="0">
                <a:solidFill>
                  <a:srgbClr val="6B7280"/>
                </a:solidFill>
                <a:latin typeface="Inter" pitchFamily="34" charset="0"/>
              </a:rPr>
              <a:t>SOLUTION</a:t>
            </a:r>
            <a:endParaRPr lang="en-US" sz="600" dirty="0"/>
          </a:p>
        </p:txBody>
      </p:sp>
      <p:sp>
        <p:nvSpPr>
          <p:cNvPr id="48" name="Text 43"/>
          <p:cNvSpPr/>
          <p:nvPr/>
        </p:nvSpPr>
        <p:spPr>
          <a:xfrm>
            <a:off x="7050881" y="3114675"/>
            <a:ext cx="148590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FFB4A2"/>
                </a:solidFill>
                <a:latin typeface="Inter" pitchFamily="34" charset="0"/>
              </a:rPr>
              <a:t>Closed-Loop Hydroponic Biospheres</a:t>
            </a:r>
            <a:endParaRPr lang="en-US" sz="800" dirty="0"/>
          </a:p>
        </p:txBody>
      </p:sp>
      <p:sp>
        <p:nvSpPr>
          <p:cNvPr id="49" name="Shape 44"/>
          <p:cNvSpPr/>
          <p:nvPr/>
        </p:nvSpPr>
        <p:spPr>
          <a:xfrm>
            <a:off x="4543425" y="3679031"/>
            <a:ext cx="4171950" cy="735806"/>
          </a:xfrm>
          <a:prstGeom prst="roundRect">
            <a:avLst>
              <a:gd name="adj" fmla="val 11650"/>
            </a:avLst>
          </a:prstGeom>
          <a:solidFill>
            <a:srgbClr val="FFFFFF">
              <a:alpha val="2000"/>
            </a:srgbClr>
          </a:solidFill>
          <a:ln w="635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4722019" y="3904059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51" name="Text 46"/>
          <p:cNvSpPr/>
          <p:nvPr/>
        </p:nvSpPr>
        <p:spPr>
          <a:xfrm>
            <a:off x="4722019" y="3904059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ter" pitchFamily="34" charset="0"/>
              </a:rPr>
              <a:t>⚡</a:t>
            </a:r>
            <a:endParaRPr lang="en-US" sz="1300" dirty="0"/>
          </a:p>
        </p:txBody>
      </p:sp>
      <p:sp>
        <p:nvSpPr>
          <p:cNvPr id="52" name="Text 47"/>
          <p:cNvSpPr/>
          <p:nvPr/>
        </p:nvSpPr>
        <p:spPr>
          <a:xfrm>
            <a:off x="5122069" y="3904059"/>
            <a:ext cx="148590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600" b="1" spc="78" kern="0" dirty="0">
                <a:solidFill>
                  <a:srgbClr val="6B7280"/>
                </a:solidFill>
                <a:latin typeface="Inter" pitchFamily="34" charset="0"/>
              </a:rPr>
              <a:t>SHELTER &amp; POWER</a:t>
            </a:r>
            <a:endParaRPr lang="en-US" sz="600" dirty="0"/>
          </a:p>
        </p:txBody>
      </p:sp>
      <p:sp>
        <p:nvSpPr>
          <p:cNvPr id="53" name="Text 48"/>
          <p:cNvSpPr/>
          <p:nvPr/>
        </p:nvSpPr>
        <p:spPr>
          <a:xfrm>
            <a:off x="5122069" y="4039791"/>
            <a:ext cx="14859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E5E7EB"/>
                </a:solidFill>
                <a:latin typeface="Inter" pitchFamily="34" charset="0"/>
              </a:rPr>
              <a:t>High Radiation / Weak Solar</a:t>
            </a:r>
            <a:endParaRPr lang="en-US" sz="800" dirty="0"/>
          </a:p>
        </p:txBody>
      </p:sp>
      <p:sp>
        <p:nvSpPr>
          <p:cNvPr id="54" name="Text 49"/>
          <p:cNvSpPr/>
          <p:nvPr/>
        </p:nvSpPr>
        <p:spPr>
          <a:xfrm>
            <a:off x="6722269" y="3961209"/>
            <a:ext cx="2143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4B2B">
                    <a:alpha val="70000"/>
                  </a:srgbClr>
                </a:solidFill>
                <a:latin typeface="Inter" pitchFamily="34" charset="0"/>
              </a:rPr>
              <a:t>➔</a:t>
            </a:r>
            <a:endParaRPr lang="en-US" sz="1100" dirty="0"/>
          </a:p>
        </p:txBody>
      </p:sp>
      <p:sp>
        <p:nvSpPr>
          <p:cNvPr id="55" name="Text 50"/>
          <p:cNvSpPr/>
          <p:nvPr/>
        </p:nvSpPr>
        <p:spPr>
          <a:xfrm>
            <a:off x="7050881" y="3829050"/>
            <a:ext cx="148590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600" b="1" spc="78" kern="0" dirty="0">
                <a:solidFill>
                  <a:srgbClr val="6B7280"/>
                </a:solidFill>
                <a:latin typeface="Inter" pitchFamily="34" charset="0"/>
              </a:rPr>
              <a:t>SOLUTION</a:t>
            </a:r>
            <a:endParaRPr lang="en-US" sz="600" dirty="0"/>
          </a:p>
        </p:txBody>
      </p:sp>
      <p:sp>
        <p:nvSpPr>
          <p:cNvPr id="56" name="Text 51"/>
          <p:cNvSpPr/>
          <p:nvPr/>
        </p:nvSpPr>
        <p:spPr>
          <a:xfrm>
            <a:off x="7050881" y="3964781"/>
            <a:ext cx="148590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FFB4A2"/>
                </a:solidFill>
                <a:latin typeface="Inter" pitchFamily="34" charset="0"/>
              </a:rPr>
              <a:t>Regolith Shields &amp; Micro-Nuclear</a:t>
            </a:r>
            <a:endParaRPr lang="en-US" sz="800" dirty="0"/>
          </a:p>
        </p:txBody>
      </p:sp>
    </p:spTree>
  </p:cSld>
  <p:clrMapOvr>
    <a:masterClrMapping/>
  </p:clrMapOvr>
  <p:transition spd="med">
    <p:cover dir="l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2026-08-11T03:35:03Z</dcterms:created>
  <dcterms:modified xsi:type="dcterms:W3CDTF">2026-08-11T03:35:03Z</dcterms:modified>
</cp:coreProperties>
</file>